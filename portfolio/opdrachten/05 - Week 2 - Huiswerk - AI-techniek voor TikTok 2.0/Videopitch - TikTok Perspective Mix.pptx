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9908becefe44de" /><Relationship Type="http://schemas.openxmlformats.org/officeDocument/2006/relationships/extended-properties" Target="/docProps/app.xml" Id="R6933a3d4e6ad4b08" /><Relationship Type="http://schemas.openxmlformats.org/officeDocument/2006/relationships/officeDocument" Target="/ppt/presentation.xml" Id="Rffcec02fb5d844c5" /></Relationships>
</file>

<file path=ppt/presentation.xml><?xml version="1.0" encoding="utf-8"?>
<p:presentation xmlns:p="http://schemas.openxmlformats.org/presentationml/2006/main">
  <p:sldMasterIdLst>
    <p:sldMasterId xmlns:r="http://schemas.openxmlformats.org/officeDocument/2006/relationships" id="2147483648" r:id="Re614916d83a443df"/>
  </p:sldMasterIdLst>
  <p:notesMasterIdLst>
    <p:notesMasterId xmlns:r="http://schemas.openxmlformats.org/officeDocument/2006/relationships" r:id="R717c65bf611846ee"/>
  </p:notesMasterIdLst>
  <p:sldIdLst>
    <p:sldId xmlns:r="http://schemas.openxmlformats.org/officeDocument/2006/relationships" id="256" r:id="Rff1f2a5dff6a4ef9"/>
    <p:sldId xmlns:r="http://schemas.openxmlformats.org/officeDocument/2006/relationships" id="257" r:id="R906255b9cc464283"/>
    <p:sldId xmlns:r="http://schemas.openxmlformats.org/officeDocument/2006/relationships" id="258" r:id="R178a206cda6a42b3"/>
    <p:sldId xmlns:r="http://schemas.openxmlformats.org/officeDocument/2006/relationships" id="259" r:id="R2e919ad0a9c8443e"/>
    <p:sldId xmlns:r="http://schemas.openxmlformats.org/officeDocument/2006/relationships" id="260" r:id="R2d278f23530c4769"/>
    <p:sldId xmlns:r="http://schemas.openxmlformats.org/officeDocument/2006/relationships" id="261" r:id="R2ffe9f34d0974900"/>
    <p:sldId xmlns:r="http://schemas.openxmlformats.org/officeDocument/2006/relationships" id="262" r:id="R1523bf950cda4931"/>
    <p:sldId xmlns:r="http://schemas.openxmlformats.org/officeDocument/2006/relationships" id="263" r:id="Rf972ac170e4f4c2b"/>
    <p:sldId xmlns:r="http://schemas.openxmlformats.org/officeDocument/2006/relationships" id="264" r:id="Raf20edb1f7a84e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e87cc70dbd4dad" /><Relationship Type="http://schemas.openxmlformats.org/officeDocument/2006/relationships/slideMaster" Target="/ppt/slideMasters/slideMaster1.xml" Id="Re614916d83a443df" /><Relationship Type="http://schemas.openxmlformats.org/officeDocument/2006/relationships/notesMaster" Target="/ppt/notesMasters/notesMaster1.xml" Id="R717c65bf611846ee" /><Relationship Type="http://schemas.openxmlformats.org/officeDocument/2006/relationships/presProps" Target="/ppt/presProps.xml" Id="Rb904822b3f2e4dbe" /><Relationship Type="http://schemas.openxmlformats.org/officeDocument/2006/relationships/tableStyles" Target="/ppt/tableStyles.xml" Id="R68d8829af28e4f50" /><Relationship Type="http://schemas.openxmlformats.org/officeDocument/2006/relationships/slide" Target="/ppt/slides/slide1.xml" Id="Rff1f2a5dff6a4ef9" /><Relationship Type="http://schemas.openxmlformats.org/officeDocument/2006/relationships/slide" Target="/ppt/slides/slide2.xml" Id="R906255b9cc464283" /><Relationship Type="http://schemas.openxmlformats.org/officeDocument/2006/relationships/slide" Target="/ppt/slides/slide3.xml" Id="R178a206cda6a42b3" /><Relationship Type="http://schemas.openxmlformats.org/officeDocument/2006/relationships/slide" Target="/ppt/slides/slide4.xml" Id="R2e919ad0a9c8443e" /><Relationship Type="http://schemas.openxmlformats.org/officeDocument/2006/relationships/slide" Target="/ppt/slides/slide5.xml" Id="R2d278f23530c4769" /><Relationship Type="http://schemas.openxmlformats.org/officeDocument/2006/relationships/slide" Target="/ppt/slides/slide6.xml" Id="R2ffe9f34d0974900" /><Relationship Type="http://schemas.openxmlformats.org/officeDocument/2006/relationships/slide" Target="/ppt/slides/slide7.xml" Id="R1523bf950cda4931" /><Relationship Type="http://schemas.openxmlformats.org/officeDocument/2006/relationships/slide" Target="/ppt/slides/slide8.xml" Id="Rf972ac170e4f4c2b" /><Relationship Type="http://schemas.openxmlformats.org/officeDocument/2006/relationships/slide" Target="/ppt/slides/slide9.xml" Id="Raf20edb1f7a84e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c2e9db05764f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49a949461b4dbe" /><Relationship Type="http://schemas.openxmlformats.org/officeDocument/2006/relationships/notesMaster" Target="/ppt/notesMasters/notesMaster1.xml" Id="R2f2f50e6abfe49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73fdacb83b4068" /><Relationship Type="http://schemas.openxmlformats.org/officeDocument/2006/relationships/notesMaster" Target="/ppt/notesMasters/notesMaster1.xml" Id="Rf1441e7a3c8841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81d43be4894778" /><Relationship Type="http://schemas.openxmlformats.org/officeDocument/2006/relationships/notesMaster" Target="/ppt/notesMasters/notesMaster1.xml" Id="R4170772c206544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4626ca7b664262" /><Relationship Type="http://schemas.openxmlformats.org/officeDocument/2006/relationships/notesMaster" Target="/ppt/notesMasters/notesMaster1.xml" Id="Rd0868b44c9d149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6a1f2edda7479a" /><Relationship Type="http://schemas.openxmlformats.org/officeDocument/2006/relationships/notesMaster" Target="/ppt/notesMasters/notesMaster1.xml" Id="Rbedd1111763c45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c9f08a310d4851" /><Relationship Type="http://schemas.openxmlformats.org/officeDocument/2006/relationships/notesMaster" Target="/ppt/notesMasters/notesMaster1.xml" Id="Ra1b98279073c48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e063949fb0409c" /><Relationship Type="http://schemas.openxmlformats.org/officeDocument/2006/relationships/notesMaster" Target="/ppt/notesMasters/notesMaster1.xml" Id="Rc327106f11a748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f493bbf59d4234" /><Relationship Type="http://schemas.openxmlformats.org/officeDocument/2006/relationships/notesMaster" Target="/ppt/notesMasters/notesMaster1.xml" Id="Re3aad8ea1cb440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f574148c3b4efa" /><Relationship Type="http://schemas.openxmlformats.org/officeDocument/2006/relationships/notesMaster" Target="/ppt/notesMasters/notesMaster1.xml" Id="Re06aca6b821d44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Vandaag leg ik eerst kort uit hoe TikTok video's aanbeveelt. Daarna bespreek ik de belangrijkste risico's. Mijn voorstel heet Perspective Mix. Deze techniek geeft gebruikers meer invloed op de afwisseling in hun feed. Het doel is niet om personalisatie weg te halen. Het doel is om interesse en verrassing beter met elkaar te combineren. Bron voor de werking van het huidige systeem: https://support.tiktok.com/en/using-tiktok/exploring-videos/how-tiktok-recommends-content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TikTok gebruikt meerdere soorten informatie. De belangrijkste bron is ons gedrag in de app. Denk aan kijktijd, likes, reacties, delen en de knop Niet geïnteresseerd. Ook informatie over de video speelt mee, zoals geluid en hashtags. Het systeem geeft iedere video een soort kansscore. Daarna komen video's met een hoge score eerder in de feed. Een sterk signaal, zoals een lange video helemaal afkijken, weegt volgens TikTok zwaarder dan een zwak signaal. Bron: https://newsroom.tiktok.com/how-we-recommend-videos?lang=en-IE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Het huidige systeem heeft duidelijke voordelen. De feed wordt snel persoonlijk. Ook kleine makers kunnen worden ontdekt, omdat het aantal volgers volgens TikTok geen direct rangschikkingssignaal is. Gebruikers kunnen feedback geven met Niet geïnteresseerd en andere instellingen. TikTok probeert daarnaast herhaling te beperken door niet steeds dezelfde maker of hetzelfde geluid achter elkaar te tonen. Dat zijn nuttige maatregelen, maar de gebruiker ziet nog weinig van de afweging achter iedere aanbeveling. Bronnen: https://newsroom.tiktok.com/how-we-recommend-videos?lang=en-IE en https://support.tiktok.com/en/using-tiktok/exploring-videos/how-tiktok-recommends-content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 grootste zwakte is dat gedrag niet altijd hetzelfde is als echte interesse. Iemand kan een schokkende video uitkijken omdat die verbaasd is. Het systeem kan dit toch als positief signaal zien. Verder kan veel van hetzelfde een filterbubbel maken. Populaire onderwerpen hebben ook meer kans om nieuwe aandacht te krijgen. TikTok zegt zelf dat aanbevelingssystemen een steeds gelijkere stroom kunnen maken en dat het daarom afwisseling toevoegt. Bron: https://newsroom.tiktok.com/how-we-recommend-videos?lang=en-IE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Mijn voorstel heet Perspective Mix. Bovenaan de instellingen komt een eenvoudige keuze met drie standen. Bij Bekend blijft de feed dicht bij bestaande interesses. Gemengd zorgt voor een normale balans. Ontdekken laat vaker andere onderwerpen, makers en invalshoeken zien. Bij iedere afwijkende video kan de gebruiker zien waarom die video wordt getoond. De gebruiker kan de instelling altijd terugzetten. Zo blijft personalisatie bestaan, maar krijgt de gebruiker meer regie.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 basis blijft een aanbevelingssysteem. Eerst verzamelt TikTok mogelijke video's. Daarna berekent het model twee scores. De eerste score gaat over verwachte interesse. De tweede score gaat over afwisseling. Een techniek zoals een contextual bandit kan leren welke verhouding goed werkt per situatie. Daarna controleert het systeem veiligheid en leeftijdsgeschiktheid. Belangrijk is dat de keuze van de gebruiker zwaarder telt dan de voorspelling van het model. De term contextual bandit wordt ook gebruikt bij moderne aanbevelingssystemen, bijvoorbeeld bij Spotify. Bron: https://engineering.atspotify.com/2026/1/why-we-use-separate-tech-stacks-for-personalization-and-experimentation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 zou deze functie eerst klein testen. Gebruikers doen alleen mee na duidelijke uitleg. De test vergelijkt de huidige feed met Perspective Mix. Kijktijd blijft meetbaar, maar mag niet de enige KPI zijn. Tevredenheid, afwisseling, meldingen en het gebruik van Niet geïnteresseerd zeggen ook veel. Nieuwe gebruikers moeten apart worden bekeken, omdat het systeem bij hen nog weinig gegevens heeft. Bij veiligheidsproblemen stopt de test direct.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Verantwoord gebruik begint met zo weinig mogelijk data. De functie hoeft geen gevoelige persoonsgegevens te verzamelen. Ook moet TikTok duidelijk uitleggen hoe de instelling werkt. Gebruikers moeten hun keuze kunnen aanpassen en video's kunnen melden. Menselijke controle blijft nodig bij moderatie, klachten en het testen van bias. NIST waarschuwt dat AI bestaande bias sneller en op grotere schaal kan verspreiden. Bron: https://www.nist.gov/artificial-intelligence/ai-fundamental-research-managing-ai-bias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Mijn advies is om Perspective Mix als vrijwillige instelling te testen. De functie geeft gebruikers meer keuze zonder het hele aanbevelingssysteem te vervangen. TikTok moet succes breder meten dan alleen kijktijd. Afwisseling, tevredenheid en veiligheid tellen ook mee. Mijn belangrijkste punt is dat AI goede aanbevelingen kan doen, maar dat de gebruiker zicht en invloed moet houden op de keuzes van het systeem. Dank jullie wel.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7b181c503e47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2dfc5316fa499c" /><Relationship Type="http://schemas.openxmlformats.org/officeDocument/2006/relationships/slideLayout" Target="/ppt/slideLayouts/slideLayout1.xml" Id="Rbc319cf21dad4c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319cf21dad4c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e531e4c8174ec7" /><Relationship Type="http://schemas.openxmlformats.org/officeDocument/2006/relationships/image" Target="/ppt/media/image.png" Id="R4e1df212198d453c" /><Relationship Type="http://schemas.openxmlformats.org/officeDocument/2006/relationships/notesSlide" Target="/ppt/notesSlides/notesSlide1.xml" Id="R04f77c05a4894b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2b5b5d01ec4c3e" /><Relationship Type="http://schemas.openxmlformats.org/officeDocument/2006/relationships/notesSlide" Target="/ppt/notesSlides/notesSlide2.xml" Id="Ra65ef050ffc347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e9c2e712ec49b2" /><Relationship Type="http://schemas.openxmlformats.org/officeDocument/2006/relationships/notesSlide" Target="/ppt/notesSlides/notesSlide3.xml" Id="R524c46fe76d24a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c6ea2f02f3476d" /><Relationship Type="http://schemas.openxmlformats.org/officeDocument/2006/relationships/image" Target="/ppt/media/image2.png" Id="R5995be37a1704c84" /><Relationship Type="http://schemas.openxmlformats.org/officeDocument/2006/relationships/notesSlide" Target="/ppt/notesSlides/notesSlide4.xml" Id="R903ef109df8e44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4d22c6ea0546a6" /><Relationship Type="http://schemas.openxmlformats.org/officeDocument/2006/relationships/image" Target="/ppt/media/image3.png" Id="R80c26fb508844f18" /><Relationship Type="http://schemas.openxmlformats.org/officeDocument/2006/relationships/notesSlide" Target="/ppt/notesSlides/notesSlide5.xml" Id="R52a8bf6228354d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f5104b4b7440fa" /><Relationship Type="http://schemas.openxmlformats.org/officeDocument/2006/relationships/notesSlide" Target="/ppt/notesSlides/notesSlide6.xml" Id="R581626f0027741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b35604162f4a04" /><Relationship Type="http://schemas.openxmlformats.org/officeDocument/2006/relationships/notesSlide" Target="/ppt/notesSlides/notesSlide7.xml" Id="Rbccc2255da8a42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569457f1b1414b" /><Relationship Type="http://schemas.openxmlformats.org/officeDocument/2006/relationships/notesSlide" Target="/ppt/notesSlides/notesSlide8.xml" Id="R197bb9f1488641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4b826a72f724b38" /><Relationship Type="http://schemas.openxmlformats.org/officeDocument/2006/relationships/notesSlide" Target="/ppt/notesSlides/notesSlide9.xml" Id="R2707026429f94406" /></Relationships>
</file>

<file path=ppt/slides/slide1.xml><?xml version="1.0" encoding="utf-8"?>
<p:sld xmlns:p="http://schemas.openxmlformats.org/presentationml/2006/main">
  <p:cSld>
    <p:bg>
      <p:bgPr>
        <a:solidFill xmlns:a="http://schemas.openxmlformats.org/drawingml/2006/main">
          <a:srgbClr val="1018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e1df212198d453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940BBF5-B9F0-4491-B7F0-FA5B9A145103}"/>
              </a:ext>
            </a:extLst>
          </p:cNvPr>
          <p:cNvSpPr>
            <a:spLocks xmlns:a="http://schemas.openxmlformats.org/drawingml/2006/main" noGrp="1"/>
          </p:cNvSpPr>
          <p:nvPr/>
        </p:nvSpPr>
        <p:spPr>
          <a:xfrm xmlns:a="http://schemas.openxmlformats.org/drawingml/2006/main">
            <a:off x="0" y="0"/>
            <a:ext cx="6286500" cy="6858000"/>
          </a:xfrm>
          <a:prstGeom xmlns:a="http://schemas.openxmlformats.org/drawingml/2006/main" prst="rect">
            <a:avLst/>
          </a:prstGeom>
          <a:solidFill xmlns:a="http://schemas.openxmlformats.org/drawingml/2006/main">
            <a:srgbClr val="10182A">
              <a:alpha val="9098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571DC6-E335-471B-84D4-3E307C77925B}"/>
              </a:ext>
            </a:extLst>
          </p:cNvPr>
          <p:cNvSpPr>
            <a:spLocks xmlns:a="http://schemas.openxmlformats.org/drawingml/2006/main" noGrp="1"/>
          </p:cNvSpPr>
          <p:nvPr/>
        </p:nvSpPr>
        <p:spPr>
          <a:xfrm xmlns:a="http://schemas.openxmlformats.org/drawingml/2006/main">
            <a:off x="666750" y="11049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TikTok 2.0</a:t>
            </a:r>
          </a:p>
        </p:txBody>
      </p:sp>
      <p:sp>
        <p:nvSpPr>
          <p:cNvPr id="4" name="">
            <a:extLst xmlns:a="http://schemas.openxmlformats.org/drawingml/2006/main">
              <a:ext uri="{FF2B5EF4-FFF2-40B4-BE49-F238E27FC236}">
                <a16:creationId xmlns:a16="http://schemas.microsoft.com/office/drawing/2014/main" id="{FF97A0B5-9F1B-417B-9FAC-43C1A6FE8B58}"/>
              </a:ext>
            </a:extLst>
          </p:cNvPr>
          <p:cNvSpPr>
            <a:spLocks xmlns:a="http://schemas.openxmlformats.org/drawingml/2006/main" noGrp="1"/>
          </p:cNvSpPr>
          <p:nvPr/>
        </p:nvSpPr>
        <p:spPr>
          <a:xfrm xmlns:a="http://schemas.openxmlformats.org/drawingml/2006/main">
            <a:off x="666750" y="18097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DCE2F0"/>
                </a:solidFill>
                <a:latin typeface="Arial"/>
                <a:ea typeface="Arial"/>
                <a:cs typeface="Arial"/>
              </a:defRPr>
            </a:pPr>
            <a:r>
              <a:rPr sz="2250" b="0">
                <a:solidFill>
                  <a:srgbClr val="DCE2F0"/>
                </a:solidFill>
                <a:latin typeface="Arial"/>
                <a:ea typeface="Arial"/>
                <a:cs typeface="Arial"/>
              </a:rPr>
              <a:t>Meer keuze in wat je ziet</a:t>
            </a:r>
          </a:p>
        </p:txBody>
      </p:sp>
      <p:sp>
        <p:nvSpPr>
          <p:cNvPr id="5" name="">
            <a:extLst xmlns:a="http://schemas.openxmlformats.org/drawingml/2006/main">
              <a:ext uri="{FF2B5EF4-FFF2-40B4-BE49-F238E27FC236}">
                <a16:creationId xmlns:a16="http://schemas.microsoft.com/office/drawing/2014/main" id="{38668288-5F99-485E-8D57-933A59227EE6}"/>
              </a:ext>
            </a:extLst>
          </p:cNvPr>
          <p:cNvSpPr>
            <a:spLocks xmlns:a="http://schemas.openxmlformats.org/drawingml/2006/main" noGrp="1"/>
          </p:cNvSpPr>
          <p:nvPr/>
        </p:nvSpPr>
        <p:spPr>
          <a:xfrm xmlns:a="http://schemas.openxmlformats.org/drawingml/2006/main">
            <a:off x="666750" y="2724150"/>
            <a:ext cx="1333500" cy="66675"/>
          </a:xfrm>
          <a:prstGeom xmlns:a="http://schemas.openxmlformats.org/drawingml/2006/main" prst="rect">
            <a:avLst/>
          </a:prstGeom>
          <a:solidFill xmlns:a="http://schemas.openxmlformats.org/drawingml/2006/main">
            <a:srgbClr val="15C5D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6AF38C5-D2AD-4229-91BD-3C83FAF95F7A}"/>
              </a:ext>
            </a:extLst>
          </p:cNvPr>
          <p:cNvSpPr>
            <a:spLocks xmlns:a="http://schemas.openxmlformats.org/drawingml/2006/main" noGrp="1"/>
          </p:cNvSpPr>
          <p:nvPr/>
        </p:nvSpPr>
        <p:spPr>
          <a:xfrm xmlns:a="http://schemas.openxmlformats.org/drawingml/2006/main">
            <a:off x="666750" y="3067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Voorstel: Perspective Mix</a:t>
            </a:r>
          </a:p>
        </p:txBody>
      </p:sp>
      <p:sp>
        <p:nvSpPr>
          <p:cNvPr id="7" name="">
            <a:extLst xmlns:a="http://schemas.openxmlformats.org/drawingml/2006/main">
              <a:ext uri="{FF2B5EF4-FFF2-40B4-BE49-F238E27FC236}">
                <a16:creationId xmlns:a16="http://schemas.microsoft.com/office/drawing/2014/main" id="{7308EE39-1646-4006-947E-9E765D215793}"/>
              </a:ext>
            </a:extLst>
          </p:cNvPr>
          <p:cNvSpPr>
            <a:spLocks xmlns:a="http://schemas.openxmlformats.org/drawingml/2006/main" noGrp="1"/>
          </p:cNvSpPr>
          <p:nvPr/>
        </p:nvSpPr>
        <p:spPr>
          <a:xfrm xmlns:a="http://schemas.openxmlformats.org/drawingml/2006/main">
            <a:off x="666750" y="3562350"/>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DCE2F0"/>
                </a:solidFill>
                <a:latin typeface="Arial"/>
                <a:ea typeface="Arial"/>
                <a:cs typeface="Arial"/>
              </a:defRPr>
            </a:pPr>
            <a:r>
              <a:rPr sz="1725" b="0">
                <a:solidFill>
                  <a:srgbClr val="DCE2F0"/>
                </a:solidFill>
                <a:latin typeface="Arial"/>
                <a:ea typeface="Arial"/>
                <a:cs typeface="Arial"/>
              </a:rPr>
              <a:t>Een feed die rekening houdt met interesse, afwisseling en welzijn.</a:t>
            </a:r>
          </a:p>
        </p:txBody>
      </p:sp>
      <p:sp>
        <p:nvSpPr>
          <p:cNvPr id="8" name="">
            <a:extLst xmlns:a="http://schemas.openxmlformats.org/drawingml/2006/main">
              <a:ext uri="{FF2B5EF4-FFF2-40B4-BE49-F238E27FC236}">
                <a16:creationId xmlns:a16="http://schemas.microsoft.com/office/drawing/2014/main" id="{A8DB17B1-27C3-4405-A5A0-4A12418C4768}"/>
              </a:ext>
            </a:extLst>
          </p:cNvPr>
          <p:cNvSpPr>
            <a:spLocks xmlns:a="http://schemas.openxmlformats.org/drawingml/2006/main" noGrp="1"/>
          </p:cNvSpPr>
          <p:nvPr/>
        </p:nvSpPr>
        <p:spPr>
          <a:xfrm xmlns:a="http://schemas.openxmlformats.org/drawingml/2006/main">
            <a:off x="666750" y="5791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BFC7D8"/>
                </a:solidFill>
                <a:latin typeface="Arial"/>
                <a:ea typeface="Arial"/>
                <a:cs typeface="Arial"/>
              </a:defRPr>
            </a:pPr>
            <a:r>
              <a:rPr sz="1350" b="0">
                <a:solidFill>
                  <a:srgbClr val="BFC7D8"/>
                </a:solidFill>
                <a:latin typeface="Arial"/>
                <a:ea typeface="Arial"/>
                <a:cs typeface="Arial"/>
              </a:rPr>
              <a:t>Freek van Rijn</a:t>
            </a:r>
          </a:p>
        </p:txBody>
      </p:sp>
    </p:spTree>
    <p:extLst>
      <p:ext uri="{BB962C8B-B14F-4D97-AF65-F5344CB8AC3E}">
        <p14:creationId xmlns:p14="http://schemas.microsoft.com/office/powerpoint/2010/main" val="4808978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5611C2C-FA97-4B1E-B3E7-CA3DDBACA244}"/>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2033"/>
                </a:solidFill>
                <a:latin typeface="Arial"/>
                <a:ea typeface="Arial"/>
                <a:cs typeface="Arial"/>
              </a:defRPr>
            </a:pPr>
            <a:r>
              <a:rPr sz="2700" b="1">
                <a:solidFill>
                  <a:srgbClr val="172033"/>
                </a:solidFill>
                <a:latin typeface="Arial"/>
                <a:ea typeface="Arial"/>
                <a:cs typeface="Arial"/>
              </a:rPr>
              <a:t>Hoe de huidige aanbeveling werkt</a:t>
            </a:r>
          </a:p>
        </p:txBody>
      </p:sp>
      <p:sp>
        <p:nvSpPr>
          <p:cNvPr id="2" name="">
            <a:extLst xmlns:a="http://schemas.openxmlformats.org/drawingml/2006/main">
              <a:ext uri="{FF2B5EF4-FFF2-40B4-BE49-F238E27FC236}">
                <a16:creationId xmlns:a16="http://schemas.microsoft.com/office/drawing/2014/main" id="{DB1A55E6-984E-4B2A-8A49-8AF54C270342}"/>
              </a:ext>
            </a:extLst>
          </p:cNvPr>
          <p:cNvSpPr>
            <a:spLocks xmlns:a="http://schemas.openxmlformats.org/drawingml/2006/main" noGrp="1"/>
          </p:cNvSpPr>
          <p:nvPr/>
        </p:nvSpPr>
        <p:spPr>
          <a:xfrm xmlns:a="http://schemas.openxmlformats.org/drawingml/2006/main">
            <a:off x="609600" y="1123950"/>
            <a:ext cx="876300" cy="66675"/>
          </a:xfrm>
          <a:prstGeom xmlns:a="http://schemas.openxmlformats.org/drawingml/2006/main" prst="rect">
            <a:avLst/>
          </a:prstGeom>
          <a:solidFill xmlns:a="http://schemas.openxmlformats.org/drawingml/2006/main">
            <a:srgbClr val="FF5D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5803A2-929B-4439-90EC-C4CECDEF4568}"/>
              </a:ext>
            </a:extLst>
          </p:cNvPr>
          <p:cNvSpPr>
            <a:spLocks xmlns:a="http://schemas.openxmlformats.org/drawingml/2006/main" noGrp="1"/>
          </p:cNvSpPr>
          <p:nvPr/>
        </p:nvSpPr>
        <p:spPr>
          <a:xfrm xmlns:a="http://schemas.openxmlformats.org/drawingml/2006/main">
            <a:off x="666750" y="1809750"/>
            <a:ext cx="2381250" cy="3143250"/>
          </a:xfrm>
          <a:prstGeom xmlns:a="http://schemas.openxmlformats.org/drawingml/2006/main" prst="roundRect">
            <a:avLst>
              <a:gd name="adj" fmla="val 4800"/>
            </a:avLst>
          </a:prstGeom>
          <a:solidFill xmlns:a="http://schemas.openxmlformats.org/drawingml/2006/main">
            <a:srgbClr val="F4F2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86E558-D1A0-437D-BE58-BBDA8D8E00FA}"/>
              </a:ext>
            </a:extLst>
          </p:cNvPr>
          <p:cNvSpPr>
            <a:spLocks xmlns:a="http://schemas.openxmlformats.org/drawingml/2006/main" noGrp="1"/>
          </p:cNvSpPr>
          <p:nvPr/>
        </p:nvSpPr>
        <p:spPr>
          <a:xfrm xmlns:a="http://schemas.openxmlformats.org/drawingml/2006/main">
            <a:off x="838200" y="1981200"/>
            <a:ext cx="476250" cy="476250"/>
          </a:xfrm>
          <a:prstGeom xmlns:a="http://schemas.openxmlformats.org/drawingml/2006/main" prst="roundRect">
            <a:avLst>
              <a:gd name="adj" fmla="val 24000"/>
            </a:avLst>
          </a:prstGeom>
          <a:solidFill xmlns:a="http://schemas.openxmlformats.org/drawingml/2006/main">
            <a:srgbClr val="8E79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1341E7-D901-4D3D-A6F3-7DB6E1D9BEBC}"/>
              </a:ext>
            </a:extLst>
          </p:cNvPr>
          <p:cNvSpPr>
            <a:spLocks xmlns:a="http://schemas.openxmlformats.org/drawingml/2006/main" noGrp="1"/>
          </p:cNvSpPr>
          <p:nvPr/>
        </p:nvSpPr>
        <p:spPr>
          <a:xfrm xmlns:a="http://schemas.openxmlformats.org/drawingml/2006/main">
            <a:off x="838200" y="19812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BC2BEF24-0DC1-4B5E-89E5-0F722C5A005D}"/>
              </a:ext>
            </a:extLst>
          </p:cNvPr>
          <p:cNvSpPr>
            <a:spLocks xmlns:a="http://schemas.openxmlformats.org/drawingml/2006/main" noGrp="1"/>
          </p:cNvSpPr>
          <p:nvPr/>
        </p:nvSpPr>
        <p:spPr>
          <a:xfrm xmlns:a="http://schemas.openxmlformats.org/drawingml/2006/main">
            <a:off x="857250" y="26860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Signalen</a:t>
            </a:r>
          </a:p>
        </p:txBody>
      </p:sp>
      <p:sp>
        <p:nvSpPr>
          <p:cNvPr id="7" name="">
            <a:extLst xmlns:a="http://schemas.openxmlformats.org/drawingml/2006/main">
              <a:ext uri="{FF2B5EF4-FFF2-40B4-BE49-F238E27FC236}">
                <a16:creationId xmlns:a16="http://schemas.microsoft.com/office/drawing/2014/main" id="{68072229-1391-41FC-B367-B45F6B33864B}"/>
              </a:ext>
            </a:extLst>
          </p:cNvPr>
          <p:cNvSpPr>
            <a:spLocks xmlns:a="http://schemas.openxmlformats.org/drawingml/2006/main" noGrp="1"/>
          </p:cNvSpPr>
          <p:nvPr/>
        </p:nvSpPr>
        <p:spPr>
          <a:xfrm xmlns:a="http://schemas.openxmlformats.org/drawingml/2006/main">
            <a:off x="857250" y="3219450"/>
            <a:ext cx="200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66176"/>
                </a:solidFill>
                <a:latin typeface="Arial"/>
                <a:ea typeface="Arial"/>
                <a:cs typeface="Arial"/>
              </a:defRPr>
            </a:pPr>
            <a:r>
              <a:rPr sz="1575" b="0">
                <a:solidFill>
                  <a:srgbClr val="566176"/>
                </a:solidFill>
                <a:latin typeface="Arial"/>
                <a:ea typeface="Arial"/>
                <a:cs typeface="Arial"/>
              </a:rPr>
              <a:t>Kijktijd, likes, reacties en delen</a:t>
            </a:r>
          </a:p>
        </p:txBody>
      </p:sp>
      <p:sp>
        <p:nvSpPr>
          <p:cNvPr id="8" name="">
            <a:extLst xmlns:a="http://schemas.openxmlformats.org/drawingml/2006/main">
              <a:ext uri="{FF2B5EF4-FFF2-40B4-BE49-F238E27FC236}">
                <a16:creationId xmlns:a16="http://schemas.microsoft.com/office/drawing/2014/main" id="{82EB4EB0-6AF2-4ADE-B22D-BE4425DB8676}"/>
              </a:ext>
            </a:extLst>
          </p:cNvPr>
          <p:cNvSpPr>
            <a:spLocks xmlns:a="http://schemas.openxmlformats.org/drawingml/2006/main" noGrp="1"/>
          </p:cNvSpPr>
          <p:nvPr/>
        </p:nvSpPr>
        <p:spPr>
          <a:xfrm xmlns:a="http://schemas.openxmlformats.org/drawingml/2006/main">
            <a:off x="3524250" y="1809750"/>
            <a:ext cx="2381250" cy="3143250"/>
          </a:xfrm>
          <a:prstGeom xmlns:a="http://schemas.openxmlformats.org/drawingml/2006/main" prst="roundRect">
            <a:avLst>
              <a:gd name="adj" fmla="val 4800"/>
            </a:avLst>
          </a:prstGeom>
          <a:solidFill xmlns:a="http://schemas.openxmlformats.org/drawingml/2006/main">
            <a:srgbClr val="EAFBF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FD76F59-FA1E-4F07-A1DE-99FA16C9DC8D}"/>
              </a:ext>
            </a:extLst>
          </p:cNvPr>
          <p:cNvSpPr>
            <a:spLocks xmlns:a="http://schemas.openxmlformats.org/drawingml/2006/main" noGrp="1"/>
          </p:cNvSpPr>
          <p:nvPr/>
        </p:nvSpPr>
        <p:spPr>
          <a:xfrm xmlns:a="http://schemas.openxmlformats.org/drawingml/2006/main">
            <a:off x="3695700" y="1981200"/>
            <a:ext cx="476250" cy="476250"/>
          </a:xfrm>
          <a:prstGeom xmlns:a="http://schemas.openxmlformats.org/drawingml/2006/main" prst="roundRect">
            <a:avLst>
              <a:gd name="adj" fmla="val 24000"/>
            </a:avLst>
          </a:prstGeom>
          <a:solidFill xmlns:a="http://schemas.openxmlformats.org/drawingml/2006/main">
            <a:srgbClr val="15C5D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2061A1C-4D69-43DF-8C4A-A4C7B9586B03}"/>
              </a:ext>
            </a:extLst>
          </p:cNvPr>
          <p:cNvSpPr>
            <a:spLocks xmlns:a="http://schemas.openxmlformats.org/drawingml/2006/main" noGrp="1"/>
          </p:cNvSpPr>
          <p:nvPr/>
        </p:nvSpPr>
        <p:spPr>
          <a:xfrm xmlns:a="http://schemas.openxmlformats.org/drawingml/2006/main">
            <a:off x="3695700" y="19812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059F86FD-85CC-467A-81DD-8F5785AC5C99}"/>
              </a:ext>
            </a:extLst>
          </p:cNvPr>
          <p:cNvSpPr>
            <a:spLocks xmlns:a="http://schemas.openxmlformats.org/drawingml/2006/main" noGrp="1"/>
          </p:cNvSpPr>
          <p:nvPr/>
        </p:nvSpPr>
        <p:spPr>
          <a:xfrm xmlns:a="http://schemas.openxmlformats.org/drawingml/2006/main">
            <a:off x="3714750" y="26860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Video-info</a:t>
            </a:r>
          </a:p>
        </p:txBody>
      </p:sp>
      <p:sp>
        <p:nvSpPr>
          <p:cNvPr id="12" name="">
            <a:extLst xmlns:a="http://schemas.openxmlformats.org/drawingml/2006/main">
              <a:ext uri="{FF2B5EF4-FFF2-40B4-BE49-F238E27FC236}">
                <a16:creationId xmlns:a16="http://schemas.microsoft.com/office/drawing/2014/main" id="{CAD3FE56-1E47-465F-BB82-D7C676ED7C06}"/>
              </a:ext>
            </a:extLst>
          </p:cNvPr>
          <p:cNvSpPr>
            <a:spLocks xmlns:a="http://schemas.openxmlformats.org/drawingml/2006/main" noGrp="1"/>
          </p:cNvSpPr>
          <p:nvPr/>
        </p:nvSpPr>
        <p:spPr>
          <a:xfrm xmlns:a="http://schemas.openxmlformats.org/drawingml/2006/main">
            <a:off x="3714750" y="3219450"/>
            <a:ext cx="200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66176"/>
                </a:solidFill>
                <a:latin typeface="Arial"/>
                <a:ea typeface="Arial"/>
                <a:cs typeface="Arial"/>
              </a:defRPr>
            </a:pPr>
            <a:r>
              <a:rPr sz="1575" b="0">
                <a:solidFill>
                  <a:srgbClr val="566176"/>
                </a:solidFill>
                <a:latin typeface="Arial"/>
                <a:ea typeface="Arial"/>
                <a:cs typeface="Arial"/>
              </a:rPr>
              <a:t>Onderwerp, geluid, tekst en hashtags</a:t>
            </a:r>
          </a:p>
        </p:txBody>
      </p:sp>
      <p:sp>
        <p:nvSpPr>
          <p:cNvPr id="13" name="">
            <a:extLst xmlns:a="http://schemas.openxmlformats.org/drawingml/2006/main">
              <a:ext uri="{FF2B5EF4-FFF2-40B4-BE49-F238E27FC236}">
                <a16:creationId xmlns:a16="http://schemas.microsoft.com/office/drawing/2014/main" id="{4CB5FF32-531D-4FBF-9255-EFC5CA3BE502}"/>
              </a:ext>
            </a:extLst>
          </p:cNvPr>
          <p:cNvSpPr>
            <a:spLocks xmlns:a="http://schemas.openxmlformats.org/drawingml/2006/main" noGrp="1"/>
          </p:cNvSpPr>
          <p:nvPr/>
        </p:nvSpPr>
        <p:spPr>
          <a:xfrm xmlns:a="http://schemas.openxmlformats.org/drawingml/2006/main">
            <a:off x="6381750" y="1809750"/>
            <a:ext cx="2381250" cy="3143250"/>
          </a:xfrm>
          <a:prstGeom xmlns:a="http://schemas.openxmlformats.org/drawingml/2006/main" prst="roundRect">
            <a:avLst>
              <a:gd name="adj" fmla="val 4800"/>
            </a:avLst>
          </a:prstGeom>
          <a:solidFill xmlns:a="http://schemas.openxmlformats.org/drawingml/2006/main">
            <a:srgbClr val="F4F2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A5382D2-D7DE-4A91-81F8-483FA2F9DD74}"/>
              </a:ext>
            </a:extLst>
          </p:cNvPr>
          <p:cNvSpPr>
            <a:spLocks xmlns:a="http://schemas.openxmlformats.org/drawingml/2006/main" noGrp="1"/>
          </p:cNvSpPr>
          <p:nvPr/>
        </p:nvSpPr>
        <p:spPr>
          <a:xfrm xmlns:a="http://schemas.openxmlformats.org/drawingml/2006/main">
            <a:off x="6553200" y="1981200"/>
            <a:ext cx="476250" cy="476250"/>
          </a:xfrm>
          <a:prstGeom xmlns:a="http://schemas.openxmlformats.org/drawingml/2006/main" prst="roundRect">
            <a:avLst>
              <a:gd name="adj" fmla="val 24000"/>
            </a:avLst>
          </a:prstGeom>
          <a:solidFill xmlns:a="http://schemas.openxmlformats.org/drawingml/2006/main">
            <a:srgbClr val="8E79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9506C5D-B5BD-442E-A27F-0EC07E6C334B}"/>
              </a:ext>
            </a:extLst>
          </p:cNvPr>
          <p:cNvSpPr>
            <a:spLocks xmlns:a="http://schemas.openxmlformats.org/drawingml/2006/main" noGrp="1"/>
          </p:cNvSpPr>
          <p:nvPr/>
        </p:nvSpPr>
        <p:spPr>
          <a:xfrm xmlns:a="http://schemas.openxmlformats.org/drawingml/2006/main">
            <a:off x="6553200" y="19812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99D26358-C50F-4A86-AC87-CBE72090B215}"/>
              </a:ext>
            </a:extLst>
          </p:cNvPr>
          <p:cNvSpPr>
            <a:spLocks xmlns:a="http://schemas.openxmlformats.org/drawingml/2006/main" noGrp="1"/>
          </p:cNvSpPr>
          <p:nvPr/>
        </p:nvSpPr>
        <p:spPr>
          <a:xfrm xmlns:a="http://schemas.openxmlformats.org/drawingml/2006/main">
            <a:off x="6572250" y="26860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Rangschikken</a:t>
            </a:r>
          </a:p>
        </p:txBody>
      </p:sp>
      <p:sp>
        <p:nvSpPr>
          <p:cNvPr id="17" name="">
            <a:extLst xmlns:a="http://schemas.openxmlformats.org/drawingml/2006/main">
              <a:ext uri="{FF2B5EF4-FFF2-40B4-BE49-F238E27FC236}">
                <a16:creationId xmlns:a16="http://schemas.microsoft.com/office/drawing/2014/main" id="{1531D7E3-389B-4683-AC01-848B75A6A577}"/>
              </a:ext>
            </a:extLst>
          </p:cNvPr>
          <p:cNvSpPr>
            <a:spLocks xmlns:a="http://schemas.openxmlformats.org/drawingml/2006/main" noGrp="1"/>
          </p:cNvSpPr>
          <p:nvPr/>
        </p:nvSpPr>
        <p:spPr>
          <a:xfrm xmlns:a="http://schemas.openxmlformats.org/drawingml/2006/main">
            <a:off x="6572250" y="3219450"/>
            <a:ext cx="200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66176"/>
                </a:solidFill>
                <a:latin typeface="Arial"/>
                <a:ea typeface="Arial"/>
                <a:cs typeface="Arial"/>
              </a:defRPr>
            </a:pPr>
            <a:r>
              <a:rPr sz="1575" b="0">
                <a:solidFill>
                  <a:srgbClr val="566176"/>
                </a:solidFill>
                <a:latin typeface="Arial"/>
                <a:ea typeface="Arial"/>
                <a:cs typeface="Arial"/>
              </a:rPr>
              <a:t>De kans op interesse wordt per video geschat</a:t>
            </a:r>
          </a:p>
        </p:txBody>
      </p:sp>
      <p:sp>
        <p:nvSpPr>
          <p:cNvPr id="18" name="">
            <a:extLst xmlns:a="http://schemas.openxmlformats.org/drawingml/2006/main">
              <a:ext uri="{FF2B5EF4-FFF2-40B4-BE49-F238E27FC236}">
                <a16:creationId xmlns:a16="http://schemas.microsoft.com/office/drawing/2014/main" id="{ECFE56F0-9281-47D3-A290-CA0480B7B0A9}"/>
              </a:ext>
            </a:extLst>
          </p:cNvPr>
          <p:cNvSpPr>
            <a:spLocks xmlns:a="http://schemas.openxmlformats.org/drawingml/2006/main" noGrp="1"/>
          </p:cNvSpPr>
          <p:nvPr/>
        </p:nvSpPr>
        <p:spPr>
          <a:xfrm xmlns:a="http://schemas.openxmlformats.org/drawingml/2006/main">
            <a:off x="9239250" y="1809750"/>
            <a:ext cx="2381250" cy="3143250"/>
          </a:xfrm>
          <a:prstGeom xmlns:a="http://schemas.openxmlformats.org/drawingml/2006/main" prst="roundRect">
            <a:avLst>
              <a:gd name="adj" fmla="val 4800"/>
            </a:avLst>
          </a:prstGeom>
          <a:solidFill xmlns:a="http://schemas.openxmlformats.org/drawingml/2006/main">
            <a:srgbClr val="EAFBF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02DB082-FC39-4C3D-B565-84ACE3A30311}"/>
              </a:ext>
            </a:extLst>
          </p:cNvPr>
          <p:cNvSpPr>
            <a:spLocks xmlns:a="http://schemas.openxmlformats.org/drawingml/2006/main" noGrp="1"/>
          </p:cNvSpPr>
          <p:nvPr/>
        </p:nvSpPr>
        <p:spPr>
          <a:xfrm xmlns:a="http://schemas.openxmlformats.org/drawingml/2006/main">
            <a:off x="9410700" y="1981200"/>
            <a:ext cx="476250" cy="476250"/>
          </a:xfrm>
          <a:prstGeom xmlns:a="http://schemas.openxmlformats.org/drawingml/2006/main" prst="roundRect">
            <a:avLst>
              <a:gd name="adj" fmla="val 24000"/>
            </a:avLst>
          </a:prstGeom>
          <a:solidFill xmlns:a="http://schemas.openxmlformats.org/drawingml/2006/main">
            <a:srgbClr val="15C5D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03D1C57-39EA-418B-8FBF-55D0A7F62889}"/>
              </a:ext>
            </a:extLst>
          </p:cNvPr>
          <p:cNvSpPr>
            <a:spLocks xmlns:a="http://schemas.openxmlformats.org/drawingml/2006/main" noGrp="1"/>
          </p:cNvSpPr>
          <p:nvPr/>
        </p:nvSpPr>
        <p:spPr>
          <a:xfrm xmlns:a="http://schemas.openxmlformats.org/drawingml/2006/main">
            <a:off x="9410700" y="19812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89DDFB69-A43A-42A8-8ED5-F4083BE8FD33}"/>
              </a:ext>
            </a:extLst>
          </p:cNvPr>
          <p:cNvSpPr>
            <a:spLocks xmlns:a="http://schemas.openxmlformats.org/drawingml/2006/main" noGrp="1"/>
          </p:cNvSpPr>
          <p:nvPr/>
        </p:nvSpPr>
        <p:spPr>
          <a:xfrm xmlns:a="http://schemas.openxmlformats.org/drawingml/2006/main">
            <a:off x="9429750" y="26860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Leren</a:t>
            </a:r>
          </a:p>
        </p:txBody>
      </p:sp>
      <p:sp>
        <p:nvSpPr>
          <p:cNvPr id="22" name="">
            <a:extLst xmlns:a="http://schemas.openxmlformats.org/drawingml/2006/main">
              <a:ext uri="{FF2B5EF4-FFF2-40B4-BE49-F238E27FC236}">
                <a16:creationId xmlns:a16="http://schemas.microsoft.com/office/drawing/2014/main" id="{ABE79434-9147-430F-ABD6-C9013F03237C}"/>
              </a:ext>
            </a:extLst>
          </p:cNvPr>
          <p:cNvSpPr>
            <a:spLocks xmlns:a="http://schemas.openxmlformats.org/drawingml/2006/main" noGrp="1"/>
          </p:cNvSpPr>
          <p:nvPr/>
        </p:nvSpPr>
        <p:spPr>
          <a:xfrm xmlns:a="http://schemas.openxmlformats.org/drawingml/2006/main">
            <a:off x="9429750" y="3219450"/>
            <a:ext cx="200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66176"/>
                </a:solidFill>
                <a:latin typeface="Arial"/>
                <a:ea typeface="Arial"/>
                <a:cs typeface="Arial"/>
              </a:defRPr>
            </a:pPr>
            <a:r>
              <a:rPr sz="1575" b="0">
                <a:solidFill>
                  <a:srgbClr val="566176"/>
                </a:solidFill>
                <a:latin typeface="Arial"/>
                <a:ea typeface="Arial"/>
                <a:cs typeface="Arial"/>
              </a:rPr>
              <a:t>Nieuwe acties veranderen de volgende aanbevelingen</a:t>
            </a:r>
          </a:p>
        </p:txBody>
      </p:sp>
      <p:sp>
        <p:nvSpPr>
          <p:cNvPr id="23" name="">
            <a:extLst xmlns:a="http://schemas.openxmlformats.org/drawingml/2006/main">
              <a:ext uri="{FF2B5EF4-FFF2-40B4-BE49-F238E27FC236}">
                <a16:creationId xmlns:a16="http://schemas.microsoft.com/office/drawing/2014/main" id="{9DB383DC-ED9F-4234-A03D-0B850FA0B8AE}"/>
              </a:ext>
            </a:extLst>
          </p:cNvPr>
          <p:cNvSpPr>
            <a:spLocks xmlns:a="http://schemas.openxmlformats.org/drawingml/2006/main" noGrp="1"/>
          </p:cNvSpPr>
          <p:nvPr/>
        </p:nvSpPr>
        <p:spPr>
          <a:xfrm xmlns:a="http://schemas.openxmlformats.org/drawingml/2006/main">
            <a:off x="1047750" y="5476875"/>
            <a:ext cx="1009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72033"/>
                </a:solidFill>
                <a:latin typeface="Arial"/>
                <a:ea typeface="Arial"/>
                <a:cs typeface="Arial"/>
              </a:defRPr>
            </a:pPr>
            <a:r>
              <a:rPr sz="1725" b="1">
                <a:solidFill>
                  <a:srgbClr val="172033"/>
                </a:solidFill>
                <a:latin typeface="Arial"/>
                <a:ea typeface="Arial"/>
                <a:cs typeface="Arial"/>
              </a:rPr>
              <a:t>Sterke signalen, zoals een video uitkijken, tellen vaak zwaarder dan zwakke signalen.</a:t>
            </a:r>
          </a:p>
        </p:txBody>
      </p:sp>
      <p:sp>
        <p:nvSpPr>
          <p:cNvPr id="24" name="">
            <a:extLst xmlns:a="http://schemas.openxmlformats.org/drawingml/2006/main">
              <a:ext uri="{FF2B5EF4-FFF2-40B4-BE49-F238E27FC236}">
                <a16:creationId xmlns:a16="http://schemas.microsoft.com/office/drawing/2014/main" id="{61E7741C-2EE2-4248-A76A-42362B29AED6}"/>
              </a:ext>
            </a:extLst>
          </p:cNvPr>
          <p:cNvSpPr>
            <a:spLocks xmlns:a="http://schemas.openxmlformats.org/drawingml/2006/main" noGrp="1"/>
          </p:cNvSpPr>
          <p:nvPr/>
        </p:nvSpPr>
        <p:spPr>
          <a:xfrm xmlns:a="http://schemas.openxmlformats.org/drawingml/2006/main">
            <a:off x="113347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66176"/>
                </a:solidFill>
                <a:latin typeface="Arial"/>
                <a:ea typeface="Arial"/>
                <a:cs typeface="Arial"/>
              </a:defRPr>
            </a:pPr>
            <a:r>
              <a:rPr sz="1125" b="0">
                <a:solidFill>
                  <a:srgbClr val="566176"/>
                </a:solidFill>
                <a:latin typeface="Arial"/>
                <a:ea typeface="Arial"/>
                <a:cs typeface="Arial"/>
              </a:rPr>
              <a:t>02</a:t>
            </a:r>
          </a:p>
        </p:txBody>
      </p:sp>
    </p:spTree>
    <p:extLst>
      <p:ext uri="{BB962C8B-B14F-4D97-AF65-F5344CB8AC3E}">
        <p14:creationId xmlns:p14="http://schemas.microsoft.com/office/powerpoint/2010/main" val="1709740870"/>
      </p:ext>
    </p:extLst>
  </p:cSld>
</p:sld>
</file>

<file path=ppt/slides/slide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5A69BD-1EFD-4F3D-A614-4E8F9FA158FE}"/>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2033"/>
                </a:solidFill>
                <a:latin typeface="Arial"/>
                <a:ea typeface="Arial"/>
                <a:cs typeface="Arial"/>
              </a:defRPr>
            </a:pPr>
            <a:r>
              <a:rPr sz="2700" b="1">
                <a:solidFill>
                  <a:srgbClr val="172033"/>
                </a:solidFill>
                <a:latin typeface="Arial"/>
                <a:ea typeface="Arial"/>
                <a:cs typeface="Arial"/>
              </a:rPr>
              <a:t>Wat TikTok al goed doet</a:t>
            </a:r>
          </a:p>
        </p:txBody>
      </p:sp>
      <p:sp>
        <p:nvSpPr>
          <p:cNvPr id="2" name="">
            <a:extLst xmlns:a="http://schemas.openxmlformats.org/drawingml/2006/main">
              <a:ext uri="{FF2B5EF4-FFF2-40B4-BE49-F238E27FC236}">
                <a16:creationId xmlns:a16="http://schemas.microsoft.com/office/drawing/2014/main" id="{D1D25AE1-B85D-49AE-A525-A5F2F89ED20B}"/>
              </a:ext>
            </a:extLst>
          </p:cNvPr>
          <p:cNvSpPr>
            <a:spLocks xmlns:a="http://schemas.openxmlformats.org/drawingml/2006/main" noGrp="1"/>
          </p:cNvSpPr>
          <p:nvPr/>
        </p:nvSpPr>
        <p:spPr>
          <a:xfrm xmlns:a="http://schemas.openxmlformats.org/drawingml/2006/main">
            <a:off x="609600" y="1123950"/>
            <a:ext cx="876300" cy="66675"/>
          </a:xfrm>
          <a:prstGeom xmlns:a="http://schemas.openxmlformats.org/drawingml/2006/main" prst="rect">
            <a:avLst/>
          </a:prstGeom>
          <a:solidFill xmlns:a="http://schemas.openxmlformats.org/drawingml/2006/main">
            <a:srgbClr val="FF5D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E5FD400-C12B-49BE-8B7D-E0DE55C63FF6}"/>
              </a:ext>
            </a:extLst>
          </p:cNvPr>
          <p:cNvSpPr>
            <a:spLocks xmlns:a="http://schemas.openxmlformats.org/drawingml/2006/main" noGrp="1"/>
          </p:cNvSpPr>
          <p:nvPr/>
        </p:nvSpPr>
        <p:spPr>
          <a:xfrm xmlns:a="http://schemas.openxmlformats.org/drawingml/2006/main">
            <a:off x="857250" y="17145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F5D62"/>
                </a:solidFill>
                <a:latin typeface="Arial"/>
                <a:ea typeface="Arial"/>
                <a:cs typeface="Arial"/>
              </a:defRPr>
            </a:pPr>
            <a:r>
              <a:rPr sz="2250" b="1">
                <a:solidFill>
                  <a:srgbClr val="FF5D62"/>
                </a:solidFill>
                <a:latin typeface="Arial"/>
                <a:ea typeface="Arial"/>
                <a:cs typeface="Arial"/>
              </a:rPr>
              <a:t>Relevantie</a:t>
            </a:r>
          </a:p>
        </p:txBody>
      </p:sp>
      <p:sp>
        <p:nvSpPr>
          <p:cNvPr id="4" name="">
            <a:extLst xmlns:a="http://schemas.openxmlformats.org/drawingml/2006/main">
              <a:ext uri="{FF2B5EF4-FFF2-40B4-BE49-F238E27FC236}">
                <a16:creationId xmlns:a16="http://schemas.microsoft.com/office/drawing/2014/main" id="{96864A00-4140-427F-B22B-EF470F506E3D}"/>
              </a:ext>
            </a:extLst>
          </p:cNvPr>
          <p:cNvSpPr>
            <a:spLocks xmlns:a="http://schemas.openxmlformats.org/drawingml/2006/main" noGrp="1"/>
          </p:cNvSpPr>
          <p:nvPr/>
        </p:nvSpPr>
        <p:spPr>
          <a:xfrm xmlns:a="http://schemas.openxmlformats.org/drawingml/2006/main">
            <a:off x="857250" y="2238375"/>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De feed past zich snel aan op gedrag. Daardoor zien gebruikers vaak onderwerpen die bij hen passen.</a:t>
            </a:r>
          </a:p>
        </p:txBody>
      </p:sp>
      <p:sp>
        <p:nvSpPr>
          <p:cNvPr id="5" name="">
            <a:extLst xmlns:a="http://schemas.openxmlformats.org/drawingml/2006/main">
              <a:ext uri="{FF2B5EF4-FFF2-40B4-BE49-F238E27FC236}">
                <a16:creationId xmlns:a16="http://schemas.microsoft.com/office/drawing/2014/main" id="{34B73CAC-FA21-45B8-BC78-8E18F340E343}"/>
              </a:ext>
            </a:extLst>
          </p:cNvPr>
          <p:cNvSpPr>
            <a:spLocks xmlns:a="http://schemas.openxmlformats.org/drawingml/2006/main" noGrp="1"/>
          </p:cNvSpPr>
          <p:nvPr/>
        </p:nvSpPr>
        <p:spPr>
          <a:xfrm xmlns:a="http://schemas.openxmlformats.org/drawingml/2006/main">
            <a:off x="857250" y="38576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5C5D8"/>
                </a:solidFill>
                <a:latin typeface="Arial"/>
                <a:ea typeface="Arial"/>
                <a:cs typeface="Arial"/>
              </a:defRPr>
            </a:pPr>
            <a:r>
              <a:rPr sz="2250" b="1">
                <a:solidFill>
                  <a:srgbClr val="15C5D8"/>
                </a:solidFill>
                <a:latin typeface="Arial"/>
                <a:ea typeface="Arial"/>
                <a:cs typeface="Arial"/>
              </a:rPr>
              <a:t>Ontdekking</a:t>
            </a:r>
          </a:p>
        </p:txBody>
      </p:sp>
      <p:sp>
        <p:nvSpPr>
          <p:cNvPr id="6" name="">
            <a:extLst xmlns:a="http://schemas.openxmlformats.org/drawingml/2006/main">
              <a:ext uri="{FF2B5EF4-FFF2-40B4-BE49-F238E27FC236}">
                <a16:creationId xmlns:a16="http://schemas.microsoft.com/office/drawing/2014/main" id="{81FA042F-972C-4EC3-9FB2-61B3FC7EEACF}"/>
              </a:ext>
            </a:extLst>
          </p:cNvPr>
          <p:cNvSpPr>
            <a:spLocks xmlns:a="http://schemas.openxmlformats.org/drawingml/2006/main" noGrp="1"/>
          </p:cNvSpPr>
          <p:nvPr/>
        </p:nvSpPr>
        <p:spPr>
          <a:xfrm xmlns:a="http://schemas.openxmlformats.org/drawingml/2006/main">
            <a:off x="857250" y="4381500"/>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TikTok voegt soms andere video's toe. Zo kan het systeem nieuwe interesses leren kennen.</a:t>
            </a:r>
          </a:p>
        </p:txBody>
      </p:sp>
      <p:sp>
        <p:nvSpPr>
          <p:cNvPr id="7" name="">
            <a:extLst xmlns:a="http://schemas.openxmlformats.org/drawingml/2006/main">
              <a:ext uri="{FF2B5EF4-FFF2-40B4-BE49-F238E27FC236}">
                <a16:creationId xmlns:a16="http://schemas.microsoft.com/office/drawing/2014/main" id="{54A532FE-E0FD-4396-9FD4-9D8AA2A04F67}"/>
              </a:ext>
            </a:extLst>
          </p:cNvPr>
          <p:cNvSpPr>
            <a:spLocks xmlns:a="http://schemas.openxmlformats.org/drawingml/2006/main" noGrp="1"/>
          </p:cNvSpPr>
          <p:nvPr/>
        </p:nvSpPr>
        <p:spPr>
          <a:xfrm xmlns:a="http://schemas.openxmlformats.org/drawingml/2006/main">
            <a:off x="5810250" y="1571625"/>
            <a:ext cx="5238750" cy="3714750"/>
          </a:xfrm>
          <a:prstGeom xmlns:a="http://schemas.openxmlformats.org/drawingml/2006/main" prst="roundRect">
            <a:avLst>
              <a:gd name="adj" fmla="val 3077"/>
            </a:avLst>
          </a:prstGeom>
          <a:solidFill xmlns:a="http://schemas.openxmlformats.org/drawingml/2006/main">
            <a:srgbClr val="10182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08F8C5-FCC4-4116-A316-9ED7E84416AD}"/>
              </a:ext>
            </a:extLst>
          </p:cNvPr>
          <p:cNvSpPr>
            <a:spLocks xmlns:a="http://schemas.openxmlformats.org/drawingml/2006/main" noGrp="1"/>
          </p:cNvSpPr>
          <p:nvPr/>
        </p:nvSpPr>
        <p:spPr>
          <a:xfrm xmlns:a="http://schemas.openxmlformats.org/drawingml/2006/main">
            <a:off x="6238875" y="19526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De gebruiker kan invloed geven</a:t>
            </a:r>
          </a:p>
        </p:txBody>
      </p:sp>
      <p:sp>
        <p:nvSpPr>
          <p:cNvPr id="9" name="">
            <a:extLst xmlns:a="http://schemas.openxmlformats.org/drawingml/2006/main">
              <a:ext uri="{FF2B5EF4-FFF2-40B4-BE49-F238E27FC236}">
                <a16:creationId xmlns:a16="http://schemas.microsoft.com/office/drawing/2014/main" id="{5AABE9AE-64EE-4AC2-AFD5-2EE9A1E8983C}"/>
              </a:ext>
            </a:extLst>
          </p:cNvPr>
          <p:cNvSpPr>
            <a:spLocks xmlns:a="http://schemas.openxmlformats.org/drawingml/2006/main" noGrp="1"/>
          </p:cNvSpPr>
          <p:nvPr/>
        </p:nvSpPr>
        <p:spPr>
          <a:xfrm xmlns:a="http://schemas.openxmlformats.org/drawingml/2006/main">
            <a:off x="6238875" y="2619375"/>
            <a:ext cx="4191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54000" indent="-127000">
              <a:spcAft>
                <a:spcPts val="1400"/>
              </a:spcAft>
              <a:buChar char="•"/>
              <a:defRPr sz="1800">
                <a:solidFill>
                  <a:srgbClr val="E7EBF3"/>
                </a:solidFill>
                <a:latin typeface="Arial"/>
                <a:ea typeface="Arial"/>
                <a:cs typeface="Arial"/>
              </a:defRPr>
            </a:pPr>
            <a:r>
              <a:rPr sz="1800">
                <a:solidFill>
                  <a:srgbClr val="E7EBF3"/>
                </a:solidFill>
                <a:latin typeface="Arial"/>
                <a:ea typeface="Arial"/>
                <a:cs typeface="Arial"/>
              </a:rPr>
              <a:t>Niet geïnteresseerd kiezen</a:t>
            </a:r>
          </a:p>
          <a:p xmlns:a="http://schemas.openxmlformats.org/drawingml/2006/main">
            <a:pPr marL="254000" indent="-127000">
              <a:spcAft>
                <a:spcPts val="1400"/>
              </a:spcAft>
              <a:buChar char="•"/>
              <a:defRPr sz="1800">
                <a:solidFill>
                  <a:srgbClr val="E7EBF3"/>
                </a:solidFill>
                <a:latin typeface="Arial"/>
                <a:ea typeface="Arial"/>
                <a:cs typeface="Arial"/>
              </a:defRPr>
            </a:pPr>
            <a:r>
              <a:rPr sz="1800">
                <a:solidFill>
                  <a:srgbClr val="E7EBF3"/>
                </a:solidFill>
                <a:latin typeface="Arial"/>
                <a:ea typeface="Arial"/>
                <a:cs typeface="Arial"/>
              </a:rPr>
              <a:t>Een maker of geluid verbergen</a:t>
            </a:r>
          </a:p>
          <a:p xmlns:a="http://schemas.openxmlformats.org/drawingml/2006/main">
            <a:pPr marL="254000" indent="-127000">
              <a:spcAft>
                <a:spcPts val="1400"/>
              </a:spcAft>
              <a:buChar char="•"/>
              <a:defRPr sz="1800">
                <a:solidFill>
                  <a:srgbClr val="E7EBF3"/>
                </a:solidFill>
                <a:latin typeface="Arial"/>
                <a:ea typeface="Arial"/>
                <a:cs typeface="Arial"/>
              </a:defRPr>
            </a:pPr>
            <a:r>
              <a:rPr sz="1800">
                <a:solidFill>
                  <a:srgbClr val="E7EBF3"/>
                </a:solidFill>
                <a:latin typeface="Arial"/>
                <a:ea typeface="Arial"/>
                <a:cs typeface="Arial"/>
              </a:rPr>
              <a:t>Onderwerpen beheren</a:t>
            </a:r>
          </a:p>
          <a:p xmlns:a="http://schemas.openxmlformats.org/drawingml/2006/main">
            <a:pPr marL="254000" indent="-127000">
              <a:spcAft>
                <a:spcPts val="1400"/>
              </a:spcAft>
              <a:buChar char="•"/>
              <a:defRPr sz="1800">
                <a:solidFill>
                  <a:srgbClr val="E7EBF3"/>
                </a:solidFill>
                <a:latin typeface="Arial"/>
                <a:ea typeface="Arial"/>
                <a:cs typeface="Arial"/>
              </a:defRPr>
            </a:pPr>
            <a:r>
              <a:rPr sz="1800">
                <a:solidFill>
                  <a:srgbClr val="E7EBF3"/>
                </a:solidFill>
                <a:latin typeface="Arial"/>
                <a:ea typeface="Arial"/>
                <a:cs typeface="Arial"/>
              </a:rPr>
              <a:t>De Voor jou-feed vernieuwen</a:t>
            </a:r>
          </a:p>
        </p:txBody>
      </p:sp>
      <p:sp>
        <p:nvSpPr>
          <p:cNvPr id="10" name="">
            <a:extLst xmlns:a="http://schemas.openxmlformats.org/drawingml/2006/main">
              <a:ext uri="{FF2B5EF4-FFF2-40B4-BE49-F238E27FC236}">
                <a16:creationId xmlns:a16="http://schemas.microsoft.com/office/drawing/2014/main" id="{66E0B97C-B1DE-4616-8677-AAAB8E9D77E1}"/>
              </a:ext>
            </a:extLst>
          </p:cNvPr>
          <p:cNvSpPr>
            <a:spLocks xmlns:a="http://schemas.openxmlformats.org/drawingml/2006/main" noGrp="1"/>
          </p:cNvSpPr>
          <p:nvPr/>
        </p:nvSpPr>
        <p:spPr>
          <a:xfrm xmlns:a="http://schemas.openxmlformats.org/drawingml/2006/main">
            <a:off x="113347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66176"/>
                </a:solidFill>
                <a:latin typeface="Arial"/>
                <a:ea typeface="Arial"/>
                <a:cs typeface="Arial"/>
              </a:defRPr>
            </a:pPr>
            <a:r>
              <a:rPr sz="1125" b="0">
                <a:solidFill>
                  <a:srgbClr val="566176"/>
                </a:solidFill>
                <a:latin typeface="Arial"/>
                <a:ea typeface="Arial"/>
                <a:cs typeface="Arial"/>
              </a:rPr>
              <a:t>03</a:t>
            </a:r>
          </a:p>
        </p:txBody>
      </p:sp>
    </p:spTree>
    <p:extLst>
      <p:ext uri="{BB962C8B-B14F-4D97-AF65-F5344CB8AC3E}">
        <p14:creationId xmlns:p14="http://schemas.microsoft.com/office/powerpoint/2010/main" val="2079828484"/>
      </p:ext>
    </p:extLst>
  </p:cSld>
</p:sld>
</file>

<file path=ppt/slides/slide4.xml><?xml version="1.0" encoding="utf-8"?>
<p:sld xmlns:p="http://schemas.openxmlformats.org/presentationml/2006/main">
  <p:cSld>
    <p:bg>
      <p:bgPr>
        <a:solidFill xmlns:a="http://schemas.openxmlformats.org/drawingml/2006/main">
          <a:srgbClr val="10182A"/>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995be37a1704c8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F0E3202-2E70-44A4-A74C-CFC4101963E2}"/>
              </a:ext>
            </a:extLst>
          </p:cNvPr>
          <p:cNvSpPr>
            <a:spLocks xmlns:a="http://schemas.openxmlformats.org/drawingml/2006/main" noGrp="1"/>
          </p:cNvSpPr>
          <p:nvPr/>
        </p:nvSpPr>
        <p:spPr>
          <a:xfrm xmlns:a="http://schemas.openxmlformats.org/drawingml/2006/main">
            <a:off x="6191250" y="0"/>
            <a:ext cx="6000750" cy="6858000"/>
          </a:xfrm>
          <a:prstGeom xmlns:a="http://schemas.openxmlformats.org/drawingml/2006/main" prst="rect">
            <a:avLst/>
          </a:prstGeom>
          <a:solidFill xmlns:a="http://schemas.openxmlformats.org/drawingml/2006/main">
            <a:srgbClr val="10182A">
              <a:alpha val="94118"/>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435DC9-A7A2-4803-A3E3-A98F7BCB5AA9}"/>
              </a:ext>
            </a:extLst>
          </p:cNvPr>
          <p:cNvSpPr>
            <a:spLocks xmlns:a="http://schemas.openxmlformats.org/drawingml/2006/main" noGrp="1"/>
          </p:cNvSpPr>
          <p:nvPr/>
        </p:nvSpPr>
        <p:spPr>
          <a:xfrm xmlns:a="http://schemas.openxmlformats.org/drawingml/2006/main">
            <a:off x="6667500" y="5524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Vier risico's</a:t>
            </a:r>
          </a:p>
        </p:txBody>
      </p:sp>
      <p:sp>
        <p:nvSpPr>
          <p:cNvPr id="4" name="">
            <a:extLst xmlns:a="http://schemas.openxmlformats.org/drawingml/2006/main">
              <a:ext uri="{FF2B5EF4-FFF2-40B4-BE49-F238E27FC236}">
                <a16:creationId xmlns:a16="http://schemas.microsoft.com/office/drawing/2014/main" id="{E74E620B-09CE-4E5C-AEB0-61420894CD48}"/>
              </a:ext>
            </a:extLst>
          </p:cNvPr>
          <p:cNvSpPr>
            <a:spLocks xmlns:a="http://schemas.openxmlformats.org/drawingml/2006/main" noGrp="1"/>
          </p:cNvSpPr>
          <p:nvPr/>
        </p:nvSpPr>
        <p:spPr>
          <a:xfrm xmlns:a="http://schemas.openxmlformats.org/drawingml/2006/main">
            <a:off x="6667500" y="1524000"/>
            <a:ext cx="4762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54000" indent="-127000">
              <a:spcAft>
                <a:spcPts val="1600"/>
              </a:spcAft>
              <a:buChar char="•"/>
              <a:defRPr sz="1800">
                <a:solidFill>
                  <a:srgbClr val="EDF0F7"/>
                </a:solidFill>
                <a:latin typeface="Arial"/>
                <a:ea typeface="Arial"/>
                <a:cs typeface="Arial"/>
              </a:defRPr>
            </a:pPr>
            <a:r>
              <a:rPr sz="1800">
                <a:solidFill>
                  <a:srgbClr val="EDF0F7"/>
                </a:solidFill>
                <a:latin typeface="Arial"/>
                <a:ea typeface="Arial"/>
                <a:cs typeface="Arial"/>
              </a:rPr>
              <a:t>Filterbubbel: steeds meer van hetzelfde</a:t>
            </a:r>
          </a:p>
          <a:p xmlns:a="http://schemas.openxmlformats.org/drawingml/2006/main">
            <a:pPr marL="254000" indent="-127000">
              <a:spcAft>
                <a:spcPts val="1600"/>
              </a:spcAft>
              <a:buChar char="•"/>
              <a:defRPr sz="1800">
                <a:solidFill>
                  <a:srgbClr val="EDF0F7"/>
                </a:solidFill>
                <a:latin typeface="Arial"/>
                <a:ea typeface="Arial"/>
                <a:cs typeface="Arial"/>
              </a:defRPr>
            </a:pPr>
            <a:r>
              <a:rPr sz="1800">
                <a:solidFill>
                  <a:srgbClr val="EDF0F7"/>
                </a:solidFill>
                <a:latin typeface="Arial"/>
                <a:ea typeface="Arial"/>
                <a:cs typeface="Arial"/>
              </a:rPr>
              <a:t>Engagementbias: opvallende video's winnen sneller</a:t>
            </a:r>
          </a:p>
          <a:p xmlns:a="http://schemas.openxmlformats.org/drawingml/2006/main">
            <a:pPr marL="254000" indent="-127000">
              <a:spcAft>
                <a:spcPts val="1600"/>
              </a:spcAft>
              <a:buChar char="•"/>
              <a:defRPr sz="1800">
                <a:solidFill>
                  <a:srgbClr val="EDF0F7"/>
                </a:solidFill>
                <a:latin typeface="Arial"/>
                <a:ea typeface="Arial"/>
                <a:cs typeface="Arial"/>
              </a:defRPr>
            </a:pPr>
            <a:r>
              <a:rPr sz="1800">
                <a:solidFill>
                  <a:srgbClr val="EDF0F7"/>
                </a:solidFill>
                <a:latin typeface="Arial"/>
                <a:ea typeface="Arial"/>
                <a:cs typeface="Arial"/>
              </a:rPr>
              <a:t>Populariteitsbias: kleine onderwerpen raken uit beeld</a:t>
            </a:r>
          </a:p>
          <a:p xmlns:a="http://schemas.openxmlformats.org/drawingml/2006/main">
            <a:pPr marL="254000" indent="-127000">
              <a:spcAft>
                <a:spcPts val="1600"/>
              </a:spcAft>
              <a:buChar char="•"/>
              <a:defRPr sz="1800">
                <a:solidFill>
                  <a:srgbClr val="EDF0F7"/>
                </a:solidFill>
                <a:latin typeface="Arial"/>
                <a:ea typeface="Arial"/>
                <a:cs typeface="Arial"/>
              </a:defRPr>
            </a:pPr>
            <a:r>
              <a:rPr sz="1800">
                <a:solidFill>
                  <a:srgbClr val="EDF0F7"/>
                </a:solidFill>
                <a:latin typeface="Arial"/>
                <a:ea typeface="Arial"/>
                <a:cs typeface="Arial"/>
              </a:rPr>
              <a:t>Verkeerde conclusie: lang kijken betekent niet altijd leuk vinden</a:t>
            </a:r>
          </a:p>
        </p:txBody>
      </p:sp>
      <p:sp>
        <p:nvSpPr>
          <p:cNvPr id="5" name="">
            <a:extLst xmlns:a="http://schemas.openxmlformats.org/drawingml/2006/main">
              <a:ext uri="{FF2B5EF4-FFF2-40B4-BE49-F238E27FC236}">
                <a16:creationId xmlns:a16="http://schemas.microsoft.com/office/drawing/2014/main" id="{5D3B9FE3-7B73-4AD9-9207-6E8A98F776F6}"/>
              </a:ext>
            </a:extLst>
          </p:cNvPr>
          <p:cNvSpPr>
            <a:spLocks xmlns:a="http://schemas.openxmlformats.org/drawingml/2006/main" noGrp="1"/>
          </p:cNvSpPr>
          <p:nvPr/>
        </p:nvSpPr>
        <p:spPr>
          <a:xfrm xmlns:a="http://schemas.openxmlformats.org/drawingml/2006/main">
            <a:off x="6667500" y="5219700"/>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9DECF4"/>
                </a:solidFill>
                <a:latin typeface="Arial"/>
                <a:ea typeface="Arial"/>
                <a:cs typeface="Arial"/>
              </a:defRPr>
            </a:pPr>
            <a:r>
              <a:rPr sz="1725" b="1">
                <a:solidFill>
                  <a:srgbClr val="9DECF4"/>
                </a:solidFill>
                <a:latin typeface="Arial"/>
                <a:ea typeface="Arial"/>
                <a:cs typeface="Arial"/>
              </a:rPr>
              <a:t>Het systeem ziet gedrag, maar kent niet altijd de reden achter dat gedrag.</a:t>
            </a:r>
          </a:p>
        </p:txBody>
      </p:sp>
      <p:sp>
        <p:nvSpPr>
          <p:cNvPr id="6" name="">
            <a:extLst xmlns:a="http://schemas.openxmlformats.org/drawingml/2006/main">
              <a:ext uri="{FF2B5EF4-FFF2-40B4-BE49-F238E27FC236}">
                <a16:creationId xmlns:a16="http://schemas.microsoft.com/office/drawing/2014/main" id="{E99F58B8-CFEE-4EBD-8095-7B295A1BBFD4}"/>
              </a:ext>
            </a:extLst>
          </p:cNvPr>
          <p:cNvSpPr>
            <a:spLocks xmlns:a="http://schemas.openxmlformats.org/drawingml/2006/main" noGrp="1"/>
          </p:cNvSpPr>
          <p:nvPr/>
        </p:nvSpPr>
        <p:spPr>
          <a:xfrm xmlns:a="http://schemas.openxmlformats.org/drawingml/2006/main">
            <a:off x="113347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D8DDEA"/>
                </a:solidFill>
                <a:latin typeface="Arial"/>
                <a:ea typeface="Arial"/>
                <a:cs typeface="Arial"/>
              </a:defRPr>
            </a:pPr>
            <a:r>
              <a:rPr sz="1125" b="0">
                <a:solidFill>
                  <a:srgbClr val="D8DDEA"/>
                </a:solidFill>
                <a:latin typeface="Arial"/>
                <a:ea typeface="Arial"/>
                <a:cs typeface="Arial"/>
              </a:rPr>
              <a:t>04</a:t>
            </a:r>
          </a:p>
        </p:txBody>
      </p:sp>
    </p:spTree>
    <p:extLst>
      <p:ext uri="{BB962C8B-B14F-4D97-AF65-F5344CB8AC3E}">
        <p14:creationId xmlns:p14="http://schemas.microsoft.com/office/powerpoint/2010/main" val="7784687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0c26fb508844f18"/>
          <a:srcRect xmlns:a="http://schemas.openxmlformats.org/drawingml/2006/main" l="24596" t="0" r="24596" b="0"/>
          <a:stretch xmlns:a="http://schemas.openxmlformats.org/drawingml/2006/main">
            <a:fillRect l="0" t="0" r="0" b="0"/>
          </a:stretch>
        </p:blipFill>
        <p:spPr>
          <a:xfrm xmlns:a="http://schemas.openxmlformats.org/drawingml/2006/main">
            <a:off x="0" y="0"/>
            <a:ext cx="6191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DA0E1C-6714-4264-B13E-A5F76B753FB5}"/>
              </a:ext>
            </a:extLst>
          </p:cNvPr>
          <p:cNvSpPr>
            <a:spLocks xmlns:a="http://schemas.openxmlformats.org/drawingml/2006/main" noGrp="1"/>
          </p:cNvSpPr>
          <p:nvPr/>
        </p:nvSpPr>
        <p:spPr>
          <a:xfrm xmlns:a="http://schemas.openxmlformats.org/drawingml/2006/main">
            <a:off x="6667500" y="6858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033"/>
                </a:solidFill>
                <a:latin typeface="Arial"/>
                <a:ea typeface="Arial"/>
                <a:cs typeface="Arial"/>
              </a:defRPr>
            </a:pPr>
            <a:r>
              <a:rPr sz="3000" b="1">
                <a:solidFill>
                  <a:srgbClr val="172033"/>
                </a:solidFill>
                <a:latin typeface="Arial"/>
                <a:ea typeface="Arial"/>
                <a:cs typeface="Arial"/>
              </a:rPr>
              <a:t>Perspective Mix</a:t>
            </a:r>
          </a:p>
        </p:txBody>
      </p:sp>
      <p:sp>
        <p:nvSpPr>
          <p:cNvPr id="3" name="">
            <a:extLst xmlns:a="http://schemas.openxmlformats.org/drawingml/2006/main">
              <a:ext uri="{FF2B5EF4-FFF2-40B4-BE49-F238E27FC236}">
                <a16:creationId xmlns:a16="http://schemas.microsoft.com/office/drawing/2014/main" id="{572E85AB-6DE8-4B87-A539-98D2172FC442}"/>
              </a:ext>
            </a:extLst>
          </p:cNvPr>
          <p:cNvSpPr>
            <a:spLocks xmlns:a="http://schemas.openxmlformats.org/drawingml/2006/main" noGrp="1"/>
          </p:cNvSpPr>
          <p:nvPr/>
        </p:nvSpPr>
        <p:spPr>
          <a:xfrm xmlns:a="http://schemas.openxmlformats.org/drawingml/2006/main">
            <a:off x="6667500" y="1371600"/>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66176"/>
                </a:solidFill>
                <a:latin typeface="Arial"/>
                <a:ea typeface="Arial"/>
                <a:cs typeface="Arial"/>
              </a:defRPr>
            </a:pPr>
            <a:r>
              <a:rPr sz="1875" b="0">
                <a:solidFill>
                  <a:srgbClr val="566176"/>
                </a:solidFill>
                <a:latin typeface="Arial"/>
                <a:ea typeface="Arial"/>
                <a:cs typeface="Arial"/>
              </a:rPr>
              <a:t>De gebruiker kiest zelf hoeveel afwisseling de feed krijgt.</a:t>
            </a:r>
          </a:p>
        </p:txBody>
      </p:sp>
      <p:sp>
        <p:nvSpPr>
          <p:cNvPr id="4" name="">
            <a:extLst xmlns:a="http://schemas.openxmlformats.org/drawingml/2006/main">
              <a:ext uri="{FF2B5EF4-FFF2-40B4-BE49-F238E27FC236}">
                <a16:creationId xmlns:a16="http://schemas.microsoft.com/office/drawing/2014/main" id="{C5BE3890-A1FC-4F8D-915C-F3EFAD4E6DE1}"/>
              </a:ext>
            </a:extLst>
          </p:cNvPr>
          <p:cNvSpPr>
            <a:spLocks xmlns:a="http://schemas.openxmlformats.org/drawingml/2006/main" noGrp="1"/>
          </p:cNvSpPr>
          <p:nvPr/>
        </p:nvSpPr>
        <p:spPr>
          <a:xfrm xmlns:a="http://schemas.openxmlformats.org/drawingml/2006/main">
            <a:off x="6667500" y="2476500"/>
            <a:ext cx="4476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54000" indent="-127000">
              <a:spcAft>
                <a:spcPts val="1400"/>
              </a:spcAft>
              <a:buChar char="•"/>
              <a:defRPr sz="1725">
                <a:solidFill>
                  <a:srgbClr val="172033"/>
                </a:solidFill>
                <a:latin typeface="Arial"/>
                <a:ea typeface="Arial"/>
                <a:cs typeface="Arial"/>
              </a:defRPr>
            </a:pPr>
            <a:r>
              <a:rPr sz="1725">
                <a:solidFill>
                  <a:srgbClr val="172033"/>
                </a:solidFill>
                <a:latin typeface="Arial"/>
                <a:ea typeface="Arial"/>
                <a:cs typeface="Arial"/>
              </a:rPr>
              <a:t>Bekend: vooral onderwerpen die al passen</a:t>
            </a:r>
          </a:p>
          <a:p xmlns:a="http://schemas.openxmlformats.org/drawingml/2006/main">
            <a:pPr marL="254000" indent="-127000">
              <a:spcAft>
                <a:spcPts val="1400"/>
              </a:spcAft>
              <a:buChar char="•"/>
              <a:defRPr sz="1725">
                <a:solidFill>
                  <a:srgbClr val="172033"/>
                </a:solidFill>
                <a:latin typeface="Arial"/>
                <a:ea typeface="Arial"/>
                <a:cs typeface="Arial"/>
              </a:defRPr>
            </a:pPr>
            <a:r>
              <a:rPr sz="1725">
                <a:solidFill>
                  <a:srgbClr val="172033"/>
                </a:solidFill>
                <a:latin typeface="Arial"/>
                <a:ea typeface="Arial"/>
                <a:cs typeface="Arial"/>
              </a:rPr>
              <a:t>Gemengd: bekende en nieuwe onderwerpen</a:t>
            </a:r>
          </a:p>
          <a:p xmlns:a="http://schemas.openxmlformats.org/drawingml/2006/main">
            <a:pPr marL="254000" indent="-127000">
              <a:spcAft>
                <a:spcPts val="1400"/>
              </a:spcAft>
              <a:buChar char="•"/>
              <a:defRPr sz="1725">
                <a:solidFill>
                  <a:srgbClr val="172033"/>
                </a:solidFill>
                <a:latin typeface="Arial"/>
                <a:ea typeface="Arial"/>
                <a:cs typeface="Arial"/>
              </a:defRPr>
            </a:pPr>
            <a:r>
              <a:rPr sz="1725">
                <a:solidFill>
                  <a:srgbClr val="172033"/>
                </a:solidFill>
                <a:latin typeface="Arial"/>
                <a:ea typeface="Arial"/>
                <a:cs typeface="Arial"/>
              </a:rPr>
              <a:t>Ontdekken: bewust meer andere invalshoeken</a:t>
            </a:r>
          </a:p>
          <a:p xmlns:a="http://schemas.openxmlformats.org/drawingml/2006/main">
            <a:pPr marL="254000" indent="-127000">
              <a:spcAft>
                <a:spcPts val="1400"/>
              </a:spcAft>
              <a:buChar char="•"/>
              <a:defRPr sz="1725">
                <a:solidFill>
                  <a:srgbClr val="172033"/>
                </a:solidFill>
                <a:latin typeface="Arial"/>
                <a:ea typeface="Arial"/>
                <a:cs typeface="Arial"/>
              </a:defRPr>
            </a:pPr>
            <a:r>
              <a:rPr sz="1725">
                <a:solidFill>
                  <a:srgbClr val="172033"/>
                </a:solidFill>
                <a:latin typeface="Arial"/>
                <a:ea typeface="Arial"/>
                <a:cs typeface="Arial"/>
              </a:rPr>
              <a:t>Uitlegknop: waarom staat deze video hier?</a:t>
            </a:r>
          </a:p>
        </p:txBody>
      </p:sp>
      <p:sp>
        <p:nvSpPr>
          <p:cNvPr id="5" name="">
            <a:extLst xmlns:a="http://schemas.openxmlformats.org/drawingml/2006/main">
              <a:ext uri="{FF2B5EF4-FFF2-40B4-BE49-F238E27FC236}">
                <a16:creationId xmlns:a16="http://schemas.microsoft.com/office/drawing/2014/main" id="{C4D816DB-595F-42A4-BBFB-B8E263BFD977}"/>
              </a:ext>
            </a:extLst>
          </p:cNvPr>
          <p:cNvSpPr>
            <a:spLocks xmlns:a="http://schemas.openxmlformats.org/drawingml/2006/main" noGrp="1"/>
          </p:cNvSpPr>
          <p:nvPr/>
        </p:nvSpPr>
        <p:spPr>
          <a:xfrm xmlns:a="http://schemas.openxmlformats.org/drawingml/2006/main">
            <a:off x="6667500" y="5391150"/>
            <a:ext cx="4095750" cy="590550"/>
          </a:xfrm>
          <a:prstGeom xmlns:a="http://schemas.openxmlformats.org/drawingml/2006/main" prst="roundRect">
            <a:avLst>
              <a:gd name="adj" fmla="val 19355"/>
            </a:avLst>
          </a:prstGeom>
          <a:solidFill xmlns:a="http://schemas.openxmlformats.org/drawingml/2006/main">
            <a:srgbClr val="EAFBF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28C5402-FF2F-4205-AA33-EA1B5794FACE}"/>
              </a:ext>
            </a:extLst>
          </p:cNvPr>
          <p:cNvSpPr>
            <a:spLocks xmlns:a="http://schemas.openxmlformats.org/drawingml/2006/main" noGrp="1"/>
          </p:cNvSpPr>
          <p:nvPr/>
        </p:nvSpPr>
        <p:spPr>
          <a:xfrm xmlns:a="http://schemas.openxmlformats.org/drawingml/2006/main">
            <a:off x="6858000" y="54864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De gebruiker houdt altijd de laatste keuze.</a:t>
            </a:r>
          </a:p>
        </p:txBody>
      </p:sp>
      <p:sp>
        <p:nvSpPr>
          <p:cNvPr id="7" name="">
            <a:extLst xmlns:a="http://schemas.openxmlformats.org/drawingml/2006/main">
              <a:ext uri="{FF2B5EF4-FFF2-40B4-BE49-F238E27FC236}">
                <a16:creationId xmlns:a16="http://schemas.microsoft.com/office/drawing/2014/main" id="{48B939D9-9BFF-457F-98A5-EFFB735A34C7}"/>
              </a:ext>
            </a:extLst>
          </p:cNvPr>
          <p:cNvSpPr>
            <a:spLocks xmlns:a="http://schemas.openxmlformats.org/drawingml/2006/main" noGrp="1"/>
          </p:cNvSpPr>
          <p:nvPr/>
        </p:nvSpPr>
        <p:spPr>
          <a:xfrm xmlns:a="http://schemas.openxmlformats.org/drawingml/2006/main">
            <a:off x="113347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66176"/>
                </a:solidFill>
                <a:latin typeface="Arial"/>
                <a:ea typeface="Arial"/>
                <a:cs typeface="Arial"/>
              </a:defRPr>
            </a:pPr>
            <a:r>
              <a:rPr sz="1125" b="0">
                <a:solidFill>
                  <a:srgbClr val="566176"/>
                </a:solidFill>
                <a:latin typeface="Arial"/>
                <a:ea typeface="Arial"/>
                <a:cs typeface="Arial"/>
              </a:rPr>
              <a:t>05</a:t>
            </a:r>
          </a:p>
        </p:txBody>
      </p:sp>
    </p:spTree>
    <p:extLst>
      <p:ext uri="{BB962C8B-B14F-4D97-AF65-F5344CB8AC3E}">
        <p14:creationId xmlns:p14="http://schemas.microsoft.com/office/powerpoint/2010/main" val="1294859824"/>
      </p:ext>
    </p:extLst>
  </p:cSld>
</p:sld>
</file>

<file path=ppt/slides/slide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C37B0AD-CC38-4961-9C3B-4ECF9A8BA9C7}"/>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2033"/>
                </a:solidFill>
                <a:latin typeface="Arial"/>
                <a:ea typeface="Arial"/>
                <a:cs typeface="Arial"/>
              </a:defRPr>
            </a:pPr>
            <a:r>
              <a:rPr sz="2700" b="1">
                <a:solidFill>
                  <a:srgbClr val="172033"/>
                </a:solidFill>
                <a:latin typeface="Arial"/>
                <a:ea typeface="Arial"/>
                <a:cs typeface="Arial"/>
              </a:rPr>
              <a:t>De techniek achter Perspective Mix</a:t>
            </a:r>
          </a:p>
        </p:txBody>
      </p:sp>
      <p:sp>
        <p:nvSpPr>
          <p:cNvPr id="2" name="">
            <a:extLst xmlns:a="http://schemas.openxmlformats.org/drawingml/2006/main">
              <a:ext uri="{FF2B5EF4-FFF2-40B4-BE49-F238E27FC236}">
                <a16:creationId xmlns:a16="http://schemas.microsoft.com/office/drawing/2014/main" id="{C23EDCC1-AC04-4041-94EC-ABB7482DAD04}"/>
              </a:ext>
            </a:extLst>
          </p:cNvPr>
          <p:cNvSpPr>
            <a:spLocks xmlns:a="http://schemas.openxmlformats.org/drawingml/2006/main" noGrp="1"/>
          </p:cNvSpPr>
          <p:nvPr/>
        </p:nvSpPr>
        <p:spPr>
          <a:xfrm xmlns:a="http://schemas.openxmlformats.org/drawingml/2006/main">
            <a:off x="609600" y="1123950"/>
            <a:ext cx="876300" cy="66675"/>
          </a:xfrm>
          <a:prstGeom xmlns:a="http://schemas.openxmlformats.org/drawingml/2006/main" prst="rect">
            <a:avLst/>
          </a:prstGeom>
          <a:solidFill xmlns:a="http://schemas.openxmlformats.org/drawingml/2006/main">
            <a:srgbClr val="FF5D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4C72E5-ADE6-4259-976C-BF93AF768FCF}"/>
              </a:ext>
            </a:extLst>
          </p:cNvPr>
          <p:cNvSpPr>
            <a:spLocks xmlns:a="http://schemas.openxmlformats.org/drawingml/2006/main" noGrp="1"/>
          </p:cNvSpPr>
          <p:nvPr/>
        </p:nvSpPr>
        <p:spPr>
          <a:xfrm xmlns:a="http://schemas.openxmlformats.org/drawingml/2006/main">
            <a:off x="523875" y="2333625"/>
            <a:ext cx="1809750" cy="1428750"/>
          </a:xfrm>
          <a:prstGeom xmlns:a="http://schemas.openxmlformats.org/drawingml/2006/main" prst="roundRect">
            <a:avLst>
              <a:gd name="adj" fmla="val 8000"/>
            </a:avLst>
          </a:prstGeom>
          <a:solidFill xmlns:a="http://schemas.openxmlformats.org/drawingml/2006/main">
            <a:srgbClr val="EAFBF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2B73DD-391A-4D2B-84D3-028FA795F2FC}"/>
              </a:ext>
            </a:extLst>
          </p:cNvPr>
          <p:cNvSpPr>
            <a:spLocks xmlns:a="http://schemas.openxmlformats.org/drawingml/2006/main" noGrp="1"/>
          </p:cNvSpPr>
          <p:nvPr/>
        </p:nvSpPr>
        <p:spPr>
          <a:xfrm xmlns:a="http://schemas.openxmlformats.org/drawingml/2006/main">
            <a:off x="666750" y="2571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72033"/>
                </a:solidFill>
                <a:latin typeface="Arial"/>
                <a:ea typeface="Arial"/>
                <a:cs typeface="Arial"/>
              </a:defRPr>
            </a:pPr>
            <a:r>
              <a:rPr sz="1725" b="1">
                <a:solidFill>
                  <a:srgbClr val="172033"/>
                </a:solidFill>
                <a:latin typeface="Arial"/>
                <a:ea typeface="Arial"/>
                <a:cs typeface="Arial"/>
              </a:rPr>
              <a:t>Interesses</a:t>
            </a:r>
          </a:p>
        </p:txBody>
      </p:sp>
      <p:sp>
        <p:nvSpPr>
          <p:cNvPr id="5" name="">
            <a:extLst xmlns:a="http://schemas.openxmlformats.org/drawingml/2006/main">
              <a:ext uri="{FF2B5EF4-FFF2-40B4-BE49-F238E27FC236}">
                <a16:creationId xmlns:a16="http://schemas.microsoft.com/office/drawing/2014/main" id="{9EAEE804-8E72-4235-8B29-1822129FC8FB}"/>
              </a:ext>
            </a:extLst>
          </p:cNvPr>
          <p:cNvSpPr>
            <a:spLocks xmlns:a="http://schemas.openxmlformats.org/drawingml/2006/main" noGrp="1"/>
          </p:cNvSpPr>
          <p:nvPr/>
        </p:nvSpPr>
        <p:spPr>
          <a:xfrm xmlns:a="http://schemas.openxmlformats.org/drawingml/2006/main">
            <a:off x="695325" y="3028950"/>
            <a:ext cx="146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566176"/>
                </a:solidFill>
                <a:latin typeface="Arial"/>
                <a:ea typeface="Arial"/>
                <a:cs typeface="Arial"/>
              </a:defRPr>
            </a:pPr>
            <a:r>
              <a:rPr sz="1350" b="0">
                <a:solidFill>
                  <a:srgbClr val="566176"/>
                </a:solidFill>
                <a:latin typeface="Arial"/>
                <a:ea typeface="Arial"/>
                <a:cs typeface="Arial"/>
              </a:rPr>
              <a:t>gedrag en voorkeuren</a:t>
            </a:r>
          </a:p>
        </p:txBody>
      </p:sp>
      <p:sp>
        <p:nvSpPr>
          <p:cNvPr id="6" name="">
            <a:extLst xmlns:a="http://schemas.openxmlformats.org/drawingml/2006/main">
              <a:ext uri="{FF2B5EF4-FFF2-40B4-BE49-F238E27FC236}">
                <a16:creationId xmlns:a16="http://schemas.microsoft.com/office/drawing/2014/main" id="{A68385E3-B4D3-4D9B-82EB-286973726738}"/>
              </a:ext>
            </a:extLst>
          </p:cNvPr>
          <p:cNvSpPr>
            <a:spLocks xmlns:a="http://schemas.openxmlformats.org/drawingml/2006/main" noGrp="1"/>
          </p:cNvSpPr>
          <p:nvPr/>
        </p:nvSpPr>
        <p:spPr>
          <a:xfrm xmlns:a="http://schemas.openxmlformats.org/drawingml/2006/main">
            <a:off x="2409825" y="2714625"/>
            <a:ext cx="38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1">
                <a:solidFill>
                  <a:srgbClr val="FF5D62"/>
                </a:solidFill>
                <a:latin typeface="Arial"/>
                <a:ea typeface="Arial"/>
                <a:cs typeface="Arial"/>
              </a:defRPr>
            </a:pPr>
            <a:r>
              <a:rPr sz="3150" b="1">
                <a:solidFill>
                  <a:srgbClr val="FF5D62"/>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876BF4B1-9C8F-43AF-A5BA-6B93897EFE0B}"/>
              </a:ext>
            </a:extLst>
          </p:cNvPr>
          <p:cNvSpPr>
            <a:spLocks xmlns:a="http://schemas.openxmlformats.org/drawingml/2006/main" noGrp="1"/>
          </p:cNvSpPr>
          <p:nvPr/>
        </p:nvSpPr>
        <p:spPr>
          <a:xfrm xmlns:a="http://schemas.openxmlformats.org/drawingml/2006/main">
            <a:off x="2857500" y="2333625"/>
            <a:ext cx="1809750" cy="1428750"/>
          </a:xfrm>
          <a:prstGeom xmlns:a="http://schemas.openxmlformats.org/drawingml/2006/main" prst="roundRect">
            <a:avLst>
              <a:gd name="adj" fmla="val 8000"/>
            </a:avLst>
          </a:prstGeom>
          <a:solidFill xmlns:a="http://schemas.openxmlformats.org/drawingml/2006/main">
            <a:srgbClr val="F4F2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ECF4527-190E-4108-9AB8-EB8D65D3D6E6}"/>
              </a:ext>
            </a:extLst>
          </p:cNvPr>
          <p:cNvSpPr>
            <a:spLocks xmlns:a="http://schemas.openxmlformats.org/drawingml/2006/main" noGrp="1"/>
          </p:cNvSpPr>
          <p:nvPr/>
        </p:nvSpPr>
        <p:spPr>
          <a:xfrm xmlns:a="http://schemas.openxmlformats.org/drawingml/2006/main">
            <a:off x="3000375" y="2571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72033"/>
                </a:solidFill>
                <a:latin typeface="Arial"/>
                <a:ea typeface="Arial"/>
                <a:cs typeface="Arial"/>
              </a:defRPr>
            </a:pPr>
            <a:r>
              <a:rPr sz="1725" b="1">
                <a:solidFill>
                  <a:srgbClr val="172033"/>
                </a:solidFill>
                <a:latin typeface="Arial"/>
                <a:ea typeface="Arial"/>
                <a:cs typeface="Arial"/>
              </a:rPr>
              <a:t>Kandidaten</a:t>
            </a:r>
          </a:p>
        </p:txBody>
      </p:sp>
      <p:sp>
        <p:nvSpPr>
          <p:cNvPr id="9" name="">
            <a:extLst xmlns:a="http://schemas.openxmlformats.org/drawingml/2006/main">
              <a:ext uri="{FF2B5EF4-FFF2-40B4-BE49-F238E27FC236}">
                <a16:creationId xmlns:a16="http://schemas.microsoft.com/office/drawing/2014/main" id="{9F729850-8C54-44E9-B20D-C4E946B916D9}"/>
              </a:ext>
            </a:extLst>
          </p:cNvPr>
          <p:cNvSpPr>
            <a:spLocks xmlns:a="http://schemas.openxmlformats.org/drawingml/2006/main" noGrp="1"/>
          </p:cNvSpPr>
          <p:nvPr/>
        </p:nvSpPr>
        <p:spPr>
          <a:xfrm xmlns:a="http://schemas.openxmlformats.org/drawingml/2006/main">
            <a:off x="3028950" y="3028950"/>
            <a:ext cx="146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566176"/>
                </a:solidFill>
                <a:latin typeface="Arial"/>
                <a:ea typeface="Arial"/>
                <a:cs typeface="Arial"/>
              </a:defRPr>
            </a:pPr>
            <a:r>
              <a:rPr sz="1350" b="0">
                <a:solidFill>
                  <a:srgbClr val="566176"/>
                </a:solidFill>
                <a:latin typeface="Arial"/>
                <a:ea typeface="Arial"/>
                <a:cs typeface="Arial"/>
              </a:rPr>
              <a:t>mogelijke video's</a:t>
            </a:r>
          </a:p>
        </p:txBody>
      </p:sp>
      <p:sp>
        <p:nvSpPr>
          <p:cNvPr id="10" name="">
            <a:extLst xmlns:a="http://schemas.openxmlformats.org/drawingml/2006/main">
              <a:ext uri="{FF2B5EF4-FFF2-40B4-BE49-F238E27FC236}">
                <a16:creationId xmlns:a16="http://schemas.microsoft.com/office/drawing/2014/main" id="{F446EEC5-A598-467C-8547-7F5A33A584DA}"/>
              </a:ext>
            </a:extLst>
          </p:cNvPr>
          <p:cNvSpPr>
            <a:spLocks xmlns:a="http://schemas.openxmlformats.org/drawingml/2006/main" noGrp="1"/>
          </p:cNvSpPr>
          <p:nvPr/>
        </p:nvSpPr>
        <p:spPr>
          <a:xfrm xmlns:a="http://schemas.openxmlformats.org/drawingml/2006/main">
            <a:off x="4743450" y="2714625"/>
            <a:ext cx="38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1">
                <a:solidFill>
                  <a:srgbClr val="FF5D62"/>
                </a:solidFill>
                <a:latin typeface="Arial"/>
                <a:ea typeface="Arial"/>
                <a:cs typeface="Arial"/>
              </a:defRPr>
            </a:pPr>
            <a:r>
              <a:rPr sz="3150" b="1">
                <a:solidFill>
                  <a:srgbClr val="FF5D62"/>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9B8434E5-31F6-438C-B37F-9EEF83F9813F}"/>
              </a:ext>
            </a:extLst>
          </p:cNvPr>
          <p:cNvSpPr>
            <a:spLocks xmlns:a="http://schemas.openxmlformats.org/drawingml/2006/main" noGrp="1"/>
          </p:cNvSpPr>
          <p:nvPr/>
        </p:nvSpPr>
        <p:spPr>
          <a:xfrm xmlns:a="http://schemas.openxmlformats.org/drawingml/2006/main">
            <a:off x="5191125" y="2333625"/>
            <a:ext cx="1809750" cy="1428750"/>
          </a:xfrm>
          <a:prstGeom xmlns:a="http://schemas.openxmlformats.org/drawingml/2006/main" prst="roundRect">
            <a:avLst>
              <a:gd name="adj" fmla="val 8000"/>
            </a:avLst>
          </a:prstGeom>
          <a:solidFill xmlns:a="http://schemas.openxmlformats.org/drawingml/2006/main">
            <a:srgbClr val="FFF0F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0E54519-3DD3-4F9B-A988-51AF9D9FA9FE}"/>
              </a:ext>
            </a:extLst>
          </p:cNvPr>
          <p:cNvSpPr>
            <a:spLocks xmlns:a="http://schemas.openxmlformats.org/drawingml/2006/main" noGrp="1"/>
          </p:cNvSpPr>
          <p:nvPr/>
        </p:nvSpPr>
        <p:spPr>
          <a:xfrm xmlns:a="http://schemas.openxmlformats.org/drawingml/2006/main">
            <a:off x="5334000" y="2571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72033"/>
                </a:solidFill>
                <a:latin typeface="Arial"/>
                <a:ea typeface="Arial"/>
                <a:cs typeface="Arial"/>
              </a:defRPr>
            </a:pPr>
            <a:r>
              <a:rPr sz="1725" b="1">
                <a:solidFill>
                  <a:srgbClr val="172033"/>
                </a:solidFill>
                <a:latin typeface="Arial"/>
                <a:ea typeface="Arial"/>
                <a:cs typeface="Arial"/>
              </a:rPr>
              <a:t>Twee scores</a:t>
            </a:r>
          </a:p>
        </p:txBody>
      </p:sp>
      <p:sp>
        <p:nvSpPr>
          <p:cNvPr id="13" name="">
            <a:extLst xmlns:a="http://schemas.openxmlformats.org/drawingml/2006/main">
              <a:ext uri="{FF2B5EF4-FFF2-40B4-BE49-F238E27FC236}">
                <a16:creationId xmlns:a16="http://schemas.microsoft.com/office/drawing/2014/main" id="{856584B3-2ADC-4C3C-B2A2-F357FEDCCC79}"/>
              </a:ext>
            </a:extLst>
          </p:cNvPr>
          <p:cNvSpPr>
            <a:spLocks xmlns:a="http://schemas.openxmlformats.org/drawingml/2006/main" noGrp="1"/>
          </p:cNvSpPr>
          <p:nvPr/>
        </p:nvSpPr>
        <p:spPr>
          <a:xfrm xmlns:a="http://schemas.openxmlformats.org/drawingml/2006/main">
            <a:off x="5362575" y="3028950"/>
            <a:ext cx="146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566176"/>
                </a:solidFill>
                <a:latin typeface="Arial"/>
                <a:ea typeface="Arial"/>
                <a:cs typeface="Arial"/>
              </a:defRPr>
            </a:pPr>
            <a:r>
              <a:rPr sz="1350" b="0">
                <a:solidFill>
                  <a:srgbClr val="566176"/>
                </a:solidFill>
                <a:latin typeface="Arial"/>
                <a:ea typeface="Arial"/>
                <a:cs typeface="Arial"/>
              </a:rPr>
              <a:t>relevantie en afwisseling</a:t>
            </a:r>
          </a:p>
        </p:txBody>
      </p:sp>
      <p:sp>
        <p:nvSpPr>
          <p:cNvPr id="14" name="">
            <a:extLst xmlns:a="http://schemas.openxmlformats.org/drawingml/2006/main">
              <a:ext uri="{FF2B5EF4-FFF2-40B4-BE49-F238E27FC236}">
                <a16:creationId xmlns:a16="http://schemas.microsoft.com/office/drawing/2014/main" id="{02B16478-BED8-4EB5-ACE0-DEE1D4A9BAEF}"/>
              </a:ext>
            </a:extLst>
          </p:cNvPr>
          <p:cNvSpPr>
            <a:spLocks xmlns:a="http://schemas.openxmlformats.org/drawingml/2006/main" noGrp="1"/>
          </p:cNvSpPr>
          <p:nvPr/>
        </p:nvSpPr>
        <p:spPr>
          <a:xfrm xmlns:a="http://schemas.openxmlformats.org/drawingml/2006/main">
            <a:off x="7077075" y="2714625"/>
            <a:ext cx="38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1">
                <a:solidFill>
                  <a:srgbClr val="FF5D62"/>
                </a:solidFill>
                <a:latin typeface="Arial"/>
                <a:ea typeface="Arial"/>
                <a:cs typeface="Arial"/>
              </a:defRPr>
            </a:pPr>
            <a:r>
              <a:rPr sz="3150" b="1">
                <a:solidFill>
                  <a:srgbClr val="FF5D6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71CBB1E6-373F-4E32-B1D0-D4B076EB4650}"/>
              </a:ext>
            </a:extLst>
          </p:cNvPr>
          <p:cNvSpPr>
            <a:spLocks xmlns:a="http://schemas.openxmlformats.org/drawingml/2006/main" noGrp="1"/>
          </p:cNvSpPr>
          <p:nvPr/>
        </p:nvSpPr>
        <p:spPr>
          <a:xfrm xmlns:a="http://schemas.openxmlformats.org/drawingml/2006/main">
            <a:off x="7524750" y="2333625"/>
            <a:ext cx="1809750" cy="1428750"/>
          </a:xfrm>
          <a:prstGeom xmlns:a="http://schemas.openxmlformats.org/drawingml/2006/main" prst="roundRect">
            <a:avLst>
              <a:gd name="adj" fmla="val 8000"/>
            </a:avLst>
          </a:prstGeom>
          <a:solidFill xmlns:a="http://schemas.openxmlformats.org/drawingml/2006/main">
            <a:srgbClr val="EAF7F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263A3DF-13A7-4D21-BD6C-BF57340419A0}"/>
              </a:ext>
            </a:extLst>
          </p:cNvPr>
          <p:cNvSpPr>
            <a:spLocks xmlns:a="http://schemas.openxmlformats.org/drawingml/2006/main" noGrp="1"/>
          </p:cNvSpPr>
          <p:nvPr/>
        </p:nvSpPr>
        <p:spPr>
          <a:xfrm xmlns:a="http://schemas.openxmlformats.org/drawingml/2006/main">
            <a:off x="7667625" y="2571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72033"/>
                </a:solidFill>
                <a:latin typeface="Arial"/>
                <a:ea typeface="Arial"/>
                <a:cs typeface="Arial"/>
              </a:defRPr>
            </a:pPr>
            <a:r>
              <a:rPr sz="1725" b="1">
                <a:solidFill>
                  <a:srgbClr val="172033"/>
                </a:solidFill>
                <a:latin typeface="Arial"/>
                <a:ea typeface="Arial"/>
                <a:cs typeface="Arial"/>
              </a:rPr>
              <a:t>Veiligheid</a:t>
            </a:r>
          </a:p>
        </p:txBody>
      </p:sp>
      <p:sp>
        <p:nvSpPr>
          <p:cNvPr id="17" name="">
            <a:extLst xmlns:a="http://schemas.openxmlformats.org/drawingml/2006/main">
              <a:ext uri="{FF2B5EF4-FFF2-40B4-BE49-F238E27FC236}">
                <a16:creationId xmlns:a16="http://schemas.microsoft.com/office/drawing/2014/main" id="{03094B81-1428-4E0F-8904-CCFA59169EFB}"/>
              </a:ext>
            </a:extLst>
          </p:cNvPr>
          <p:cNvSpPr>
            <a:spLocks xmlns:a="http://schemas.openxmlformats.org/drawingml/2006/main" noGrp="1"/>
          </p:cNvSpPr>
          <p:nvPr/>
        </p:nvSpPr>
        <p:spPr>
          <a:xfrm xmlns:a="http://schemas.openxmlformats.org/drawingml/2006/main">
            <a:off x="7696200" y="3028950"/>
            <a:ext cx="146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566176"/>
                </a:solidFill>
                <a:latin typeface="Arial"/>
                <a:ea typeface="Arial"/>
                <a:cs typeface="Arial"/>
              </a:defRPr>
            </a:pPr>
            <a:r>
              <a:rPr sz="1350" b="0">
                <a:solidFill>
                  <a:srgbClr val="566176"/>
                </a:solidFill>
                <a:latin typeface="Arial"/>
                <a:ea typeface="Arial"/>
                <a:cs typeface="Arial"/>
              </a:rPr>
              <a:t>regels en leeftijd</a:t>
            </a:r>
          </a:p>
        </p:txBody>
      </p:sp>
      <p:sp>
        <p:nvSpPr>
          <p:cNvPr id="18" name="">
            <a:extLst xmlns:a="http://schemas.openxmlformats.org/drawingml/2006/main">
              <a:ext uri="{FF2B5EF4-FFF2-40B4-BE49-F238E27FC236}">
                <a16:creationId xmlns:a16="http://schemas.microsoft.com/office/drawing/2014/main" id="{FB1DE37B-FC88-4A37-87EF-8B1E1D24B15A}"/>
              </a:ext>
            </a:extLst>
          </p:cNvPr>
          <p:cNvSpPr>
            <a:spLocks xmlns:a="http://schemas.openxmlformats.org/drawingml/2006/main" noGrp="1"/>
          </p:cNvSpPr>
          <p:nvPr/>
        </p:nvSpPr>
        <p:spPr>
          <a:xfrm xmlns:a="http://schemas.openxmlformats.org/drawingml/2006/main">
            <a:off x="9410700" y="2714625"/>
            <a:ext cx="38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1">
                <a:solidFill>
                  <a:srgbClr val="FF5D62"/>
                </a:solidFill>
                <a:latin typeface="Arial"/>
                <a:ea typeface="Arial"/>
                <a:cs typeface="Arial"/>
              </a:defRPr>
            </a:pPr>
            <a:r>
              <a:rPr sz="3150" b="1">
                <a:solidFill>
                  <a:srgbClr val="FF5D62"/>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0302171C-6B0E-4D9E-9AAA-C726C05CEF1A}"/>
              </a:ext>
            </a:extLst>
          </p:cNvPr>
          <p:cNvSpPr>
            <a:spLocks xmlns:a="http://schemas.openxmlformats.org/drawingml/2006/main" noGrp="1"/>
          </p:cNvSpPr>
          <p:nvPr/>
        </p:nvSpPr>
        <p:spPr>
          <a:xfrm xmlns:a="http://schemas.openxmlformats.org/drawingml/2006/main">
            <a:off x="9858375" y="2333625"/>
            <a:ext cx="1809750" cy="1428750"/>
          </a:xfrm>
          <a:prstGeom xmlns:a="http://schemas.openxmlformats.org/drawingml/2006/main" prst="roundRect">
            <a:avLst>
              <a:gd name="adj" fmla="val 8000"/>
            </a:avLst>
          </a:prstGeom>
          <a:solidFill xmlns:a="http://schemas.openxmlformats.org/drawingml/2006/main">
            <a:srgbClr val="F4F2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929551A-7049-495F-9FE5-B0CEFD41760E}"/>
              </a:ext>
            </a:extLst>
          </p:cNvPr>
          <p:cNvSpPr>
            <a:spLocks xmlns:a="http://schemas.openxmlformats.org/drawingml/2006/main" noGrp="1"/>
          </p:cNvSpPr>
          <p:nvPr/>
        </p:nvSpPr>
        <p:spPr>
          <a:xfrm xmlns:a="http://schemas.openxmlformats.org/drawingml/2006/main">
            <a:off x="10001250" y="2571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72033"/>
                </a:solidFill>
                <a:latin typeface="Arial"/>
                <a:ea typeface="Arial"/>
                <a:cs typeface="Arial"/>
              </a:defRPr>
            </a:pPr>
            <a:r>
              <a:rPr sz="1725" b="1">
                <a:solidFill>
                  <a:srgbClr val="172033"/>
                </a:solidFill>
                <a:latin typeface="Arial"/>
                <a:ea typeface="Arial"/>
                <a:cs typeface="Arial"/>
              </a:rPr>
              <a:t>Feed</a:t>
            </a:r>
          </a:p>
        </p:txBody>
      </p:sp>
      <p:sp>
        <p:nvSpPr>
          <p:cNvPr id="21" name="">
            <a:extLst xmlns:a="http://schemas.openxmlformats.org/drawingml/2006/main">
              <a:ext uri="{FF2B5EF4-FFF2-40B4-BE49-F238E27FC236}">
                <a16:creationId xmlns:a16="http://schemas.microsoft.com/office/drawing/2014/main" id="{02DA2037-8314-463F-87B1-0D928FD966DB}"/>
              </a:ext>
            </a:extLst>
          </p:cNvPr>
          <p:cNvSpPr>
            <a:spLocks xmlns:a="http://schemas.openxmlformats.org/drawingml/2006/main" noGrp="1"/>
          </p:cNvSpPr>
          <p:nvPr/>
        </p:nvSpPr>
        <p:spPr>
          <a:xfrm xmlns:a="http://schemas.openxmlformats.org/drawingml/2006/main">
            <a:off x="10029825" y="3028950"/>
            <a:ext cx="146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566176"/>
                </a:solidFill>
                <a:latin typeface="Arial"/>
                <a:ea typeface="Arial"/>
                <a:cs typeface="Arial"/>
              </a:defRPr>
            </a:pPr>
            <a:r>
              <a:rPr sz="1350" b="0">
                <a:solidFill>
                  <a:srgbClr val="566176"/>
                </a:solidFill>
                <a:latin typeface="Arial"/>
                <a:ea typeface="Arial"/>
                <a:cs typeface="Arial"/>
              </a:rPr>
              <a:t>persoonlijke mix</a:t>
            </a:r>
          </a:p>
        </p:txBody>
      </p:sp>
      <p:sp>
        <p:nvSpPr>
          <p:cNvPr id="22" name="">
            <a:extLst xmlns:a="http://schemas.openxmlformats.org/drawingml/2006/main">
              <a:ext uri="{FF2B5EF4-FFF2-40B4-BE49-F238E27FC236}">
                <a16:creationId xmlns:a16="http://schemas.microsoft.com/office/drawing/2014/main" id="{FE9D35C8-7AC6-46DA-B03F-D61F1D9974E0}"/>
              </a:ext>
            </a:extLst>
          </p:cNvPr>
          <p:cNvSpPr>
            <a:spLocks xmlns:a="http://schemas.openxmlformats.org/drawingml/2006/main" noGrp="1"/>
          </p:cNvSpPr>
          <p:nvPr/>
        </p:nvSpPr>
        <p:spPr>
          <a:xfrm xmlns:a="http://schemas.openxmlformats.org/drawingml/2006/main">
            <a:off x="1428750" y="45529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Een lerend keuzesysteem kiest de mix. Een grens voorkomt dat één onderwerp de feed overneemt.</a:t>
            </a:r>
          </a:p>
        </p:txBody>
      </p:sp>
      <p:sp>
        <p:nvSpPr>
          <p:cNvPr id="23" name="">
            <a:extLst xmlns:a="http://schemas.openxmlformats.org/drawingml/2006/main">
              <a:ext uri="{FF2B5EF4-FFF2-40B4-BE49-F238E27FC236}">
                <a16:creationId xmlns:a16="http://schemas.microsoft.com/office/drawing/2014/main" id="{807735AB-1140-4552-83F3-3C15F96151C0}"/>
              </a:ext>
            </a:extLst>
          </p:cNvPr>
          <p:cNvSpPr>
            <a:spLocks xmlns:a="http://schemas.openxmlformats.org/drawingml/2006/main" noGrp="1"/>
          </p:cNvSpPr>
          <p:nvPr/>
        </p:nvSpPr>
        <p:spPr>
          <a:xfrm xmlns:a="http://schemas.openxmlformats.org/drawingml/2006/main">
            <a:off x="1809750" y="53911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0">
                <a:solidFill>
                  <a:srgbClr val="566176"/>
                </a:solidFill>
                <a:latin typeface="Arial"/>
                <a:ea typeface="Arial"/>
                <a:cs typeface="Arial"/>
              </a:defRPr>
            </a:pPr>
            <a:r>
              <a:rPr sz="1575" b="0">
                <a:solidFill>
                  <a:srgbClr val="566176"/>
                </a:solidFill>
                <a:latin typeface="Arial"/>
                <a:ea typeface="Arial"/>
                <a:cs typeface="Arial"/>
              </a:rPr>
              <a:t>De instelling van de gebruiker weegt zwaarder dan de voorspelling van het model.</a:t>
            </a:r>
          </a:p>
        </p:txBody>
      </p:sp>
      <p:sp>
        <p:nvSpPr>
          <p:cNvPr id="24" name="">
            <a:extLst xmlns:a="http://schemas.openxmlformats.org/drawingml/2006/main">
              <a:ext uri="{FF2B5EF4-FFF2-40B4-BE49-F238E27FC236}">
                <a16:creationId xmlns:a16="http://schemas.microsoft.com/office/drawing/2014/main" id="{CC854A43-ED18-4F30-A6A7-727B30A0D79D}"/>
              </a:ext>
            </a:extLst>
          </p:cNvPr>
          <p:cNvSpPr>
            <a:spLocks xmlns:a="http://schemas.openxmlformats.org/drawingml/2006/main" noGrp="1"/>
          </p:cNvSpPr>
          <p:nvPr/>
        </p:nvSpPr>
        <p:spPr>
          <a:xfrm xmlns:a="http://schemas.openxmlformats.org/drawingml/2006/main">
            <a:off x="113347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66176"/>
                </a:solidFill>
                <a:latin typeface="Arial"/>
                <a:ea typeface="Arial"/>
                <a:cs typeface="Arial"/>
              </a:defRPr>
            </a:pPr>
            <a:r>
              <a:rPr sz="1125" b="0">
                <a:solidFill>
                  <a:srgbClr val="566176"/>
                </a:solidFill>
                <a:latin typeface="Arial"/>
                <a:ea typeface="Arial"/>
                <a:cs typeface="Arial"/>
              </a:rPr>
              <a:t>06</a:t>
            </a:r>
          </a:p>
        </p:txBody>
      </p:sp>
    </p:spTree>
    <p:extLst>
      <p:ext uri="{BB962C8B-B14F-4D97-AF65-F5344CB8AC3E}">
        <p14:creationId xmlns:p14="http://schemas.microsoft.com/office/powerpoint/2010/main" val="11081554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DE2D0F-BD57-40A6-B681-F10E912DDA61}"/>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2033"/>
                </a:solidFill>
                <a:latin typeface="Arial"/>
                <a:ea typeface="Arial"/>
                <a:cs typeface="Arial"/>
              </a:defRPr>
            </a:pPr>
            <a:r>
              <a:rPr sz="2700" b="1">
                <a:solidFill>
                  <a:srgbClr val="172033"/>
                </a:solidFill>
                <a:latin typeface="Arial"/>
                <a:ea typeface="Arial"/>
                <a:cs typeface="Arial"/>
              </a:rPr>
              <a:t>Testen met meer dan kijktijd</a:t>
            </a:r>
          </a:p>
        </p:txBody>
      </p:sp>
      <p:sp>
        <p:nvSpPr>
          <p:cNvPr id="2" name="">
            <a:extLst xmlns:a="http://schemas.openxmlformats.org/drawingml/2006/main">
              <a:ext uri="{FF2B5EF4-FFF2-40B4-BE49-F238E27FC236}">
                <a16:creationId xmlns:a16="http://schemas.microsoft.com/office/drawing/2014/main" id="{C710B1F4-0A09-4F8F-8AA5-BEFD2603C83C}"/>
              </a:ext>
            </a:extLst>
          </p:cNvPr>
          <p:cNvSpPr>
            <a:spLocks xmlns:a="http://schemas.openxmlformats.org/drawingml/2006/main" noGrp="1"/>
          </p:cNvSpPr>
          <p:nvPr/>
        </p:nvSpPr>
        <p:spPr>
          <a:xfrm xmlns:a="http://schemas.openxmlformats.org/drawingml/2006/main">
            <a:off x="609600" y="1123950"/>
            <a:ext cx="876300" cy="66675"/>
          </a:xfrm>
          <a:prstGeom xmlns:a="http://schemas.openxmlformats.org/drawingml/2006/main" prst="rect">
            <a:avLst/>
          </a:prstGeom>
          <a:solidFill xmlns:a="http://schemas.openxmlformats.org/drawingml/2006/main">
            <a:srgbClr val="FF5D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C3FDE6-D49A-4FD1-B817-CB85C30B2CCB}"/>
              </a:ext>
            </a:extLst>
          </p:cNvPr>
          <p:cNvSpPr>
            <a:spLocks xmlns:a="http://schemas.openxmlformats.org/drawingml/2006/main" noGrp="1"/>
          </p:cNvSpPr>
          <p:nvPr/>
        </p:nvSpPr>
        <p:spPr>
          <a:xfrm xmlns:a="http://schemas.openxmlformats.org/drawingml/2006/main">
            <a:off x="762000" y="16668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F5D62"/>
                </a:solidFill>
                <a:latin typeface="Arial"/>
                <a:ea typeface="Arial"/>
                <a:cs typeface="Arial"/>
              </a:defRPr>
            </a:pPr>
            <a:r>
              <a:rPr sz="2175" b="1">
                <a:solidFill>
                  <a:srgbClr val="FF5D62"/>
                </a:solidFill>
                <a:latin typeface="Arial"/>
                <a:ea typeface="Arial"/>
                <a:cs typeface="Arial"/>
              </a:rPr>
              <a:t>Testopzet</a:t>
            </a:r>
          </a:p>
        </p:txBody>
      </p:sp>
      <p:sp>
        <p:nvSpPr>
          <p:cNvPr id="4" name="">
            <a:extLst xmlns:a="http://schemas.openxmlformats.org/drawingml/2006/main">
              <a:ext uri="{FF2B5EF4-FFF2-40B4-BE49-F238E27FC236}">
                <a16:creationId xmlns:a16="http://schemas.microsoft.com/office/drawing/2014/main" id="{49F7EE28-F944-4822-8A06-70ABA779C732}"/>
              </a:ext>
            </a:extLst>
          </p:cNvPr>
          <p:cNvSpPr>
            <a:spLocks xmlns:a="http://schemas.openxmlformats.org/drawingml/2006/main" noGrp="1"/>
          </p:cNvSpPr>
          <p:nvPr/>
        </p:nvSpPr>
        <p:spPr>
          <a:xfrm xmlns:a="http://schemas.openxmlformats.org/drawingml/2006/main">
            <a:off x="762000" y="2238375"/>
            <a:ext cx="4476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54000" indent="-127000">
              <a:spcAft>
                <a:spcPts val="1300"/>
              </a:spcAft>
              <a:buChar char="•"/>
              <a:defRPr sz="1725">
                <a:solidFill>
                  <a:srgbClr val="172033"/>
                </a:solidFill>
                <a:latin typeface="Arial"/>
                <a:ea typeface="Arial"/>
                <a:cs typeface="Arial"/>
              </a:defRPr>
            </a:pPr>
            <a:r>
              <a:rPr sz="1725">
                <a:solidFill>
                  <a:srgbClr val="172033"/>
                </a:solidFill>
                <a:latin typeface="Arial"/>
                <a:ea typeface="Arial"/>
                <a:cs typeface="Arial"/>
              </a:rPr>
              <a:t>Vier weken testen met toestemming</a:t>
            </a:r>
          </a:p>
          <a:p xmlns:a="http://schemas.openxmlformats.org/drawingml/2006/main">
            <a:pPr marL="254000" indent="-127000">
              <a:spcAft>
                <a:spcPts val="1300"/>
              </a:spcAft>
              <a:buChar char="•"/>
              <a:defRPr sz="1725">
                <a:solidFill>
                  <a:srgbClr val="172033"/>
                </a:solidFill>
                <a:latin typeface="Arial"/>
                <a:ea typeface="Arial"/>
                <a:cs typeface="Arial"/>
              </a:defRPr>
            </a:pPr>
            <a:r>
              <a:rPr sz="1725">
                <a:solidFill>
                  <a:srgbClr val="172033"/>
                </a:solidFill>
                <a:latin typeface="Arial"/>
                <a:ea typeface="Arial"/>
                <a:cs typeface="Arial"/>
              </a:rPr>
              <a:t>Vergelijk huidige feed en Perspective Mix</a:t>
            </a:r>
          </a:p>
          <a:p xmlns:a="http://schemas.openxmlformats.org/drawingml/2006/main">
            <a:pPr marL="254000" indent="-127000">
              <a:spcAft>
                <a:spcPts val="1300"/>
              </a:spcAft>
              <a:buChar char="•"/>
              <a:defRPr sz="1725">
                <a:solidFill>
                  <a:srgbClr val="172033"/>
                </a:solidFill>
                <a:latin typeface="Arial"/>
                <a:ea typeface="Arial"/>
                <a:cs typeface="Arial"/>
              </a:defRPr>
            </a:pPr>
            <a:r>
              <a:rPr sz="1725">
                <a:solidFill>
                  <a:srgbClr val="172033"/>
                </a:solidFill>
                <a:latin typeface="Arial"/>
                <a:ea typeface="Arial"/>
                <a:cs typeface="Arial"/>
              </a:rPr>
              <a:t>Test apart bij nieuwe en bestaande gebruikers</a:t>
            </a:r>
          </a:p>
          <a:p xmlns:a="http://schemas.openxmlformats.org/drawingml/2006/main">
            <a:pPr marL="254000" indent="-127000">
              <a:spcAft>
                <a:spcPts val="1300"/>
              </a:spcAft>
              <a:buChar char="•"/>
              <a:defRPr sz="1725">
                <a:solidFill>
                  <a:srgbClr val="172033"/>
                </a:solidFill>
                <a:latin typeface="Arial"/>
                <a:ea typeface="Arial"/>
                <a:cs typeface="Arial"/>
              </a:defRPr>
            </a:pPr>
            <a:r>
              <a:rPr sz="1725">
                <a:solidFill>
                  <a:srgbClr val="172033"/>
                </a:solidFill>
                <a:latin typeface="Arial"/>
                <a:ea typeface="Arial"/>
                <a:cs typeface="Arial"/>
              </a:rPr>
              <a:t>Stop direct bij onverwachte veiligheidsproblemen</a:t>
            </a:r>
          </a:p>
        </p:txBody>
      </p:sp>
      <p:sp>
        <p:nvSpPr>
          <p:cNvPr id="5" name="">
            <a:extLst xmlns:a="http://schemas.openxmlformats.org/drawingml/2006/main">
              <a:ext uri="{FF2B5EF4-FFF2-40B4-BE49-F238E27FC236}">
                <a16:creationId xmlns:a16="http://schemas.microsoft.com/office/drawing/2014/main" id="{4FAA3436-A024-42A7-BF2D-66266A3B189A}"/>
              </a:ext>
            </a:extLst>
          </p:cNvPr>
          <p:cNvSpPr>
            <a:spLocks xmlns:a="http://schemas.openxmlformats.org/drawingml/2006/main" noGrp="1"/>
          </p:cNvSpPr>
          <p:nvPr/>
        </p:nvSpPr>
        <p:spPr>
          <a:xfrm xmlns:a="http://schemas.openxmlformats.org/drawingml/2006/main">
            <a:off x="6334125" y="16668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5C5D8"/>
                </a:solidFill>
                <a:latin typeface="Arial"/>
                <a:ea typeface="Arial"/>
                <a:cs typeface="Arial"/>
              </a:defRPr>
            </a:pPr>
            <a:r>
              <a:rPr sz="2175" b="1">
                <a:solidFill>
                  <a:srgbClr val="15C5D8"/>
                </a:solidFill>
                <a:latin typeface="Arial"/>
                <a:ea typeface="Arial"/>
                <a:cs typeface="Arial"/>
              </a:rPr>
              <a:t>KPI's</a:t>
            </a:r>
          </a:p>
        </p:txBody>
      </p:sp>
      <p:sp>
        <p:nvSpPr>
          <p:cNvPr id="6" name="">
            <a:extLst xmlns:a="http://schemas.openxmlformats.org/drawingml/2006/main">
              <a:ext uri="{FF2B5EF4-FFF2-40B4-BE49-F238E27FC236}">
                <a16:creationId xmlns:a16="http://schemas.microsoft.com/office/drawing/2014/main" id="{FC9CE910-7F5D-4331-B465-E83B1D9C5990}"/>
              </a:ext>
            </a:extLst>
          </p:cNvPr>
          <p:cNvSpPr>
            <a:spLocks xmlns:a="http://schemas.openxmlformats.org/drawingml/2006/main" noGrp="1"/>
          </p:cNvSpPr>
          <p:nvPr/>
        </p:nvSpPr>
        <p:spPr>
          <a:xfrm xmlns:a="http://schemas.openxmlformats.org/drawingml/2006/main">
            <a:off x="6334125" y="2238375"/>
            <a:ext cx="4524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54000" indent="-127000">
              <a:spcAft>
                <a:spcPts val="1200"/>
              </a:spcAft>
              <a:buChar char="•"/>
              <a:defRPr sz="1725">
                <a:solidFill>
                  <a:srgbClr val="172033"/>
                </a:solidFill>
                <a:latin typeface="Arial"/>
                <a:ea typeface="Arial"/>
                <a:cs typeface="Arial"/>
              </a:defRPr>
            </a:pPr>
            <a:r>
              <a:rPr sz="1725">
                <a:solidFill>
                  <a:srgbClr val="172033"/>
                </a:solidFill>
                <a:latin typeface="Arial"/>
                <a:ea typeface="Arial"/>
                <a:cs typeface="Arial"/>
              </a:rPr>
              <a:t>Tevredenheid over de feed</a:t>
            </a:r>
          </a:p>
          <a:p xmlns:a="http://schemas.openxmlformats.org/drawingml/2006/main">
            <a:pPr marL="254000" indent="-127000">
              <a:spcAft>
                <a:spcPts val="1200"/>
              </a:spcAft>
              <a:buChar char="•"/>
              <a:defRPr sz="1725">
                <a:solidFill>
                  <a:srgbClr val="172033"/>
                </a:solidFill>
                <a:latin typeface="Arial"/>
                <a:ea typeface="Arial"/>
                <a:cs typeface="Arial"/>
              </a:defRPr>
            </a:pPr>
            <a:r>
              <a:rPr sz="1725">
                <a:solidFill>
                  <a:srgbClr val="172033"/>
                </a:solidFill>
                <a:latin typeface="Arial"/>
                <a:ea typeface="Arial"/>
                <a:cs typeface="Arial"/>
              </a:rPr>
              <a:t>Aantal verschillende onderwerpen</a:t>
            </a:r>
          </a:p>
          <a:p xmlns:a="http://schemas.openxmlformats.org/drawingml/2006/main">
            <a:pPr marL="254000" indent="-127000">
              <a:spcAft>
                <a:spcPts val="1200"/>
              </a:spcAft>
              <a:buChar char="•"/>
              <a:defRPr sz="1725">
                <a:solidFill>
                  <a:srgbClr val="172033"/>
                </a:solidFill>
                <a:latin typeface="Arial"/>
                <a:ea typeface="Arial"/>
                <a:cs typeface="Arial"/>
              </a:defRPr>
            </a:pPr>
            <a:r>
              <a:rPr sz="1725">
                <a:solidFill>
                  <a:srgbClr val="172033"/>
                </a:solidFill>
                <a:latin typeface="Arial"/>
                <a:ea typeface="Arial"/>
                <a:cs typeface="Arial"/>
              </a:rPr>
              <a:t>Gebruik van Niet geïnteresseerd</a:t>
            </a:r>
          </a:p>
          <a:p xmlns:a="http://schemas.openxmlformats.org/drawingml/2006/main">
            <a:pPr marL="254000" indent="-127000">
              <a:spcAft>
                <a:spcPts val="1200"/>
              </a:spcAft>
              <a:buChar char="•"/>
              <a:defRPr sz="1725">
                <a:solidFill>
                  <a:srgbClr val="172033"/>
                </a:solidFill>
                <a:latin typeface="Arial"/>
                <a:ea typeface="Arial"/>
                <a:cs typeface="Arial"/>
              </a:defRPr>
            </a:pPr>
            <a:r>
              <a:rPr sz="1725">
                <a:solidFill>
                  <a:srgbClr val="172033"/>
                </a:solidFill>
                <a:latin typeface="Arial"/>
                <a:ea typeface="Arial"/>
                <a:cs typeface="Arial"/>
              </a:rPr>
              <a:t>Meldingen en schadelijke content</a:t>
            </a:r>
          </a:p>
          <a:p xmlns:a="http://schemas.openxmlformats.org/drawingml/2006/main">
            <a:pPr marL="254000" indent="-127000">
              <a:spcAft>
                <a:spcPts val="1200"/>
              </a:spcAft>
              <a:buChar char="•"/>
              <a:defRPr sz="1725">
                <a:solidFill>
                  <a:srgbClr val="172033"/>
                </a:solidFill>
                <a:latin typeface="Arial"/>
                <a:ea typeface="Arial"/>
                <a:cs typeface="Arial"/>
              </a:defRPr>
            </a:pPr>
            <a:r>
              <a:rPr sz="1725">
                <a:solidFill>
                  <a:srgbClr val="172033"/>
                </a:solidFill>
                <a:latin typeface="Arial"/>
                <a:ea typeface="Arial"/>
                <a:cs typeface="Arial"/>
              </a:rPr>
              <a:t>Kijktijd als extra maat, niet als hoofddoel</a:t>
            </a:r>
          </a:p>
        </p:txBody>
      </p:sp>
      <p:sp>
        <p:nvSpPr>
          <p:cNvPr id="7" name="">
            <a:extLst xmlns:a="http://schemas.openxmlformats.org/drawingml/2006/main">
              <a:ext uri="{FF2B5EF4-FFF2-40B4-BE49-F238E27FC236}">
                <a16:creationId xmlns:a16="http://schemas.microsoft.com/office/drawing/2014/main" id="{415CE4D4-845F-4C3E-A096-E8C10FF51217}"/>
              </a:ext>
            </a:extLst>
          </p:cNvPr>
          <p:cNvSpPr>
            <a:spLocks xmlns:a="http://schemas.openxmlformats.org/drawingml/2006/main" noGrp="1"/>
          </p:cNvSpPr>
          <p:nvPr/>
        </p:nvSpPr>
        <p:spPr>
          <a:xfrm xmlns:a="http://schemas.openxmlformats.org/drawingml/2006/main">
            <a:off x="2381250" y="5572125"/>
            <a:ext cx="7429500" cy="514350"/>
          </a:xfrm>
          <a:prstGeom xmlns:a="http://schemas.openxmlformats.org/drawingml/2006/main" prst="roundRect">
            <a:avLst>
              <a:gd name="adj" fmla="val 22222"/>
            </a:avLst>
          </a:prstGeom>
          <a:solidFill xmlns:a="http://schemas.openxmlformats.org/drawingml/2006/main">
            <a:srgbClr val="10182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51E8F8-B9AA-427D-963C-CA37DA516C9E}"/>
              </a:ext>
            </a:extLst>
          </p:cNvPr>
          <p:cNvSpPr>
            <a:spLocks xmlns:a="http://schemas.openxmlformats.org/drawingml/2006/main" noGrp="1"/>
          </p:cNvSpPr>
          <p:nvPr/>
        </p:nvSpPr>
        <p:spPr>
          <a:xfrm xmlns:a="http://schemas.openxmlformats.org/drawingml/2006/main">
            <a:off x="2619375" y="561975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Succes betekent: tevreden gebruikers én een veilige, afwisselende feed.</a:t>
            </a:r>
          </a:p>
        </p:txBody>
      </p:sp>
      <p:sp>
        <p:nvSpPr>
          <p:cNvPr id="9" name="">
            <a:extLst xmlns:a="http://schemas.openxmlformats.org/drawingml/2006/main">
              <a:ext uri="{FF2B5EF4-FFF2-40B4-BE49-F238E27FC236}">
                <a16:creationId xmlns:a16="http://schemas.microsoft.com/office/drawing/2014/main" id="{F64CD530-2066-4BA7-B3CF-2800572DE507}"/>
              </a:ext>
            </a:extLst>
          </p:cNvPr>
          <p:cNvSpPr>
            <a:spLocks xmlns:a="http://schemas.openxmlformats.org/drawingml/2006/main" noGrp="1"/>
          </p:cNvSpPr>
          <p:nvPr/>
        </p:nvSpPr>
        <p:spPr>
          <a:xfrm xmlns:a="http://schemas.openxmlformats.org/drawingml/2006/main">
            <a:off x="113347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66176"/>
                </a:solidFill>
                <a:latin typeface="Arial"/>
                <a:ea typeface="Arial"/>
                <a:cs typeface="Arial"/>
              </a:defRPr>
            </a:pPr>
            <a:r>
              <a:rPr sz="1125" b="0">
                <a:solidFill>
                  <a:srgbClr val="566176"/>
                </a:solidFill>
                <a:latin typeface="Arial"/>
                <a:ea typeface="Arial"/>
                <a:cs typeface="Arial"/>
              </a:rPr>
              <a:t>07</a:t>
            </a:r>
          </a:p>
        </p:txBody>
      </p:sp>
    </p:spTree>
    <p:extLst>
      <p:ext uri="{BB962C8B-B14F-4D97-AF65-F5344CB8AC3E}">
        <p14:creationId xmlns:p14="http://schemas.microsoft.com/office/powerpoint/2010/main" val="1260140423"/>
      </p:ext>
    </p:extLst>
  </p:cSld>
</p:sld>
</file>

<file path=ppt/slides/slide8.xml><?xml version="1.0" encoding="utf-8"?>
<p:sld xmlns:p="http://schemas.openxmlformats.org/presentationml/2006/main">
  <p:cSld>
    <p:bg>
      <p:bgPr>
        <a:solidFill xmlns:a="http://schemas.openxmlformats.org/drawingml/2006/main">
          <a:srgbClr val="10182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DA6AB23-4249-4763-8B7F-8D6F21766741}"/>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Verantwoord datagebruik en menselijke controle</a:t>
            </a:r>
          </a:p>
        </p:txBody>
      </p:sp>
      <p:sp>
        <p:nvSpPr>
          <p:cNvPr id="2" name="">
            <a:extLst xmlns:a="http://schemas.openxmlformats.org/drawingml/2006/main">
              <a:ext uri="{FF2B5EF4-FFF2-40B4-BE49-F238E27FC236}">
                <a16:creationId xmlns:a16="http://schemas.microsoft.com/office/drawing/2014/main" id="{74972891-F39C-4514-B337-2602C7E04009}"/>
              </a:ext>
            </a:extLst>
          </p:cNvPr>
          <p:cNvSpPr>
            <a:spLocks xmlns:a="http://schemas.openxmlformats.org/drawingml/2006/main" noGrp="1"/>
          </p:cNvSpPr>
          <p:nvPr/>
        </p:nvSpPr>
        <p:spPr>
          <a:xfrm xmlns:a="http://schemas.openxmlformats.org/drawingml/2006/main">
            <a:off x="609600" y="1123950"/>
            <a:ext cx="876300" cy="66675"/>
          </a:xfrm>
          <a:prstGeom xmlns:a="http://schemas.openxmlformats.org/drawingml/2006/main" prst="rect">
            <a:avLst/>
          </a:prstGeom>
          <a:solidFill xmlns:a="http://schemas.openxmlformats.org/drawingml/2006/main">
            <a:srgbClr val="FF5D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180F8F-3303-4708-AAA7-6B70EC2B3456}"/>
              </a:ext>
            </a:extLst>
          </p:cNvPr>
          <p:cNvSpPr>
            <a:spLocks xmlns:a="http://schemas.openxmlformats.org/drawingml/2006/main" noGrp="1"/>
          </p:cNvSpPr>
          <p:nvPr/>
        </p:nvSpPr>
        <p:spPr>
          <a:xfrm xmlns:a="http://schemas.openxmlformats.org/drawingml/2006/main">
            <a:off x="666750" y="1714500"/>
            <a:ext cx="3333750" cy="3429000"/>
          </a:xfrm>
          <a:prstGeom xmlns:a="http://schemas.openxmlformats.org/drawingml/2006/main" prst="roundRect">
            <a:avLst>
              <a:gd name="adj" fmla="val 3429"/>
            </a:avLst>
          </a:prstGeom>
          <a:solidFill xmlns:a="http://schemas.openxmlformats.org/drawingml/2006/main">
            <a:srgbClr val="242E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ADAA2E-55E1-4795-95AD-34A26CB86C5A}"/>
              </a:ext>
            </a:extLst>
          </p:cNvPr>
          <p:cNvSpPr>
            <a:spLocks xmlns:a="http://schemas.openxmlformats.org/drawingml/2006/main" noGrp="1"/>
          </p:cNvSpPr>
          <p:nvPr/>
        </p:nvSpPr>
        <p:spPr>
          <a:xfrm xmlns:a="http://schemas.openxmlformats.org/drawingml/2006/main">
            <a:off x="904875" y="20955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Minder data</a:t>
            </a:r>
          </a:p>
        </p:txBody>
      </p:sp>
      <p:sp>
        <p:nvSpPr>
          <p:cNvPr id="5" name="">
            <a:extLst xmlns:a="http://schemas.openxmlformats.org/drawingml/2006/main">
              <a:ext uri="{FF2B5EF4-FFF2-40B4-BE49-F238E27FC236}">
                <a16:creationId xmlns:a16="http://schemas.microsoft.com/office/drawing/2014/main" id="{6701B48E-4FB1-4A57-B5CB-C722233415AC}"/>
              </a:ext>
            </a:extLst>
          </p:cNvPr>
          <p:cNvSpPr>
            <a:spLocks xmlns:a="http://schemas.openxmlformats.org/drawingml/2006/main" noGrp="1"/>
          </p:cNvSpPr>
          <p:nvPr/>
        </p:nvSpPr>
        <p:spPr>
          <a:xfrm xmlns:a="http://schemas.openxmlformats.org/drawingml/2006/main">
            <a:off x="904875" y="2724150"/>
            <a:ext cx="285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DEE4EF"/>
                </a:solidFill>
                <a:latin typeface="Arial"/>
                <a:ea typeface="Arial"/>
                <a:cs typeface="Arial"/>
              </a:defRPr>
            </a:pPr>
            <a:r>
              <a:rPr sz="1575" b="0">
                <a:solidFill>
                  <a:srgbClr val="DEE4EF"/>
                </a:solidFill>
                <a:latin typeface="Arial"/>
                <a:ea typeface="Arial"/>
                <a:cs typeface="Arial"/>
              </a:rPr>
              <a:t>Gebruik alleen gedrag dat nodig is voor de aanbeveling. Bewaar geen extra gevoelige gegevens voor deze functie.</a:t>
            </a:r>
          </a:p>
        </p:txBody>
      </p:sp>
      <p:sp>
        <p:nvSpPr>
          <p:cNvPr id="6" name="">
            <a:extLst xmlns:a="http://schemas.openxmlformats.org/drawingml/2006/main">
              <a:ext uri="{FF2B5EF4-FFF2-40B4-BE49-F238E27FC236}">
                <a16:creationId xmlns:a16="http://schemas.microsoft.com/office/drawing/2014/main" id="{16FC272D-F474-4246-A9A5-B97FAE50E056}"/>
              </a:ext>
            </a:extLst>
          </p:cNvPr>
          <p:cNvSpPr>
            <a:spLocks xmlns:a="http://schemas.openxmlformats.org/drawingml/2006/main" noGrp="1"/>
          </p:cNvSpPr>
          <p:nvPr/>
        </p:nvSpPr>
        <p:spPr>
          <a:xfrm xmlns:a="http://schemas.openxmlformats.org/drawingml/2006/main">
            <a:off x="4476750" y="1714500"/>
            <a:ext cx="3333750" cy="3429000"/>
          </a:xfrm>
          <a:prstGeom xmlns:a="http://schemas.openxmlformats.org/drawingml/2006/main" prst="roundRect">
            <a:avLst>
              <a:gd name="adj" fmla="val 3429"/>
            </a:avLst>
          </a:prstGeom>
          <a:solidFill xmlns:a="http://schemas.openxmlformats.org/drawingml/2006/main">
            <a:srgbClr val="21384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FB8C92-1577-4E84-A963-42A8361C112B}"/>
              </a:ext>
            </a:extLst>
          </p:cNvPr>
          <p:cNvSpPr>
            <a:spLocks xmlns:a="http://schemas.openxmlformats.org/drawingml/2006/main" noGrp="1"/>
          </p:cNvSpPr>
          <p:nvPr/>
        </p:nvSpPr>
        <p:spPr>
          <a:xfrm xmlns:a="http://schemas.openxmlformats.org/drawingml/2006/main">
            <a:off x="4714875" y="20955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Duidelijke uitleg</a:t>
            </a:r>
          </a:p>
        </p:txBody>
      </p:sp>
      <p:sp>
        <p:nvSpPr>
          <p:cNvPr id="8" name="">
            <a:extLst xmlns:a="http://schemas.openxmlformats.org/drawingml/2006/main">
              <a:ext uri="{FF2B5EF4-FFF2-40B4-BE49-F238E27FC236}">
                <a16:creationId xmlns:a16="http://schemas.microsoft.com/office/drawing/2014/main" id="{EF7D9BC7-EAB5-414F-B96C-1DD265A6EDB3}"/>
              </a:ext>
            </a:extLst>
          </p:cNvPr>
          <p:cNvSpPr>
            <a:spLocks xmlns:a="http://schemas.openxmlformats.org/drawingml/2006/main" noGrp="1"/>
          </p:cNvSpPr>
          <p:nvPr/>
        </p:nvSpPr>
        <p:spPr>
          <a:xfrm xmlns:a="http://schemas.openxmlformats.org/drawingml/2006/main">
            <a:off x="4714875" y="2724150"/>
            <a:ext cx="285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DEE4EF"/>
                </a:solidFill>
                <a:latin typeface="Arial"/>
                <a:ea typeface="Arial"/>
                <a:cs typeface="Arial"/>
              </a:defRPr>
            </a:pPr>
            <a:r>
              <a:rPr sz="1575" b="0">
                <a:solidFill>
                  <a:srgbClr val="DEE4EF"/>
                </a:solidFill>
                <a:latin typeface="Arial"/>
                <a:ea typeface="Arial"/>
                <a:cs typeface="Arial"/>
              </a:rPr>
              <a:t>Laat zien waarom een video verschijnt en welke instelling invloed heeft op de mix.</a:t>
            </a:r>
          </a:p>
        </p:txBody>
      </p:sp>
      <p:sp>
        <p:nvSpPr>
          <p:cNvPr id="9" name="">
            <a:extLst xmlns:a="http://schemas.openxmlformats.org/drawingml/2006/main">
              <a:ext uri="{FF2B5EF4-FFF2-40B4-BE49-F238E27FC236}">
                <a16:creationId xmlns:a16="http://schemas.microsoft.com/office/drawing/2014/main" id="{55B01426-FF6F-4BF3-9A62-8B4DD5678EF5}"/>
              </a:ext>
            </a:extLst>
          </p:cNvPr>
          <p:cNvSpPr>
            <a:spLocks xmlns:a="http://schemas.openxmlformats.org/drawingml/2006/main" noGrp="1"/>
          </p:cNvSpPr>
          <p:nvPr/>
        </p:nvSpPr>
        <p:spPr>
          <a:xfrm xmlns:a="http://schemas.openxmlformats.org/drawingml/2006/main">
            <a:off x="8286750" y="1714500"/>
            <a:ext cx="3333750" cy="3429000"/>
          </a:xfrm>
          <a:prstGeom xmlns:a="http://schemas.openxmlformats.org/drawingml/2006/main" prst="roundRect">
            <a:avLst>
              <a:gd name="adj" fmla="val 3429"/>
            </a:avLst>
          </a:prstGeom>
          <a:solidFill xmlns:a="http://schemas.openxmlformats.org/drawingml/2006/main">
            <a:srgbClr val="302B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F0A1F89-C63A-48D8-9EFC-1CD79999653E}"/>
              </a:ext>
            </a:extLst>
          </p:cNvPr>
          <p:cNvSpPr>
            <a:spLocks xmlns:a="http://schemas.openxmlformats.org/drawingml/2006/main" noGrp="1"/>
          </p:cNvSpPr>
          <p:nvPr/>
        </p:nvSpPr>
        <p:spPr>
          <a:xfrm xmlns:a="http://schemas.openxmlformats.org/drawingml/2006/main">
            <a:off x="8524875" y="20955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Menselijke controle</a:t>
            </a:r>
          </a:p>
        </p:txBody>
      </p:sp>
      <p:sp>
        <p:nvSpPr>
          <p:cNvPr id="11" name="">
            <a:extLst xmlns:a="http://schemas.openxmlformats.org/drawingml/2006/main">
              <a:ext uri="{FF2B5EF4-FFF2-40B4-BE49-F238E27FC236}">
                <a16:creationId xmlns:a16="http://schemas.microsoft.com/office/drawing/2014/main" id="{79DCAB5A-3773-4D35-892A-334074056479}"/>
              </a:ext>
            </a:extLst>
          </p:cNvPr>
          <p:cNvSpPr>
            <a:spLocks xmlns:a="http://schemas.openxmlformats.org/drawingml/2006/main" noGrp="1"/>
          </p:cNvSpPr>
          <p:nvPr/>
        </p:nvSpPr>
        <p:spPr>
          <a:xfrm xmlns:a="http://schemas.openxmlformats.org/drawingml/2006/main">
            <a:off x="8524875" y="2724150"/>
            <a:ext cx="285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DEE4EF"/>
                </a:solidFill>
                <a:latin typeface="Arial"/>
                <a:ea typeface="Arial"/>
                <a:cs typeface="Arial"/>
              </a:defRPr>
            </a:pPr>
            <a:r>
              <a:rPr sz="1575" b="0">
                <a:solidFill>
                  <a:srgbClr val="DEE4EF"/>
                </a:solidFill>
                <a:latin typeface="Arial"/>
                <a:ea typeface="Arial"/>
                <a:cs typeface="Arial"/>
              </a:rPr>
              <a:t>Moderators en veiligheidsteams blijven nodig. Gebruikers moeten aanbevelingen kunnen melden.</a:t>
            </a:r>
          </a:p>
        </p:txBody>
      </p:sp>
      <p:sp>
        <p:nvSpPr>
          <p:cNvPr id="12" name="">
            <a:extLst xmlns:a="http://schemas.openxmlformats.org/drawingml/2006/main">
              <a:ext uri="{FF2B5EF4-FFF2-40B4-BE49-F238E27FC236}">
                <a16:creationId xmlns:a16="http://schemas.microsoft.com/office/drawing/2014/main" id="{93EFAB94-8BBA-4B4C-B45F-43F44EA10BB2}"/>
              </a:ext>
            </a:extLst>
          </p:cNvPr>
          <p:cNvSpPr>
            <a:spLocks xmlns:a="http://schemas.openxmlformats.org/drawingml/2006/main" noGrp="1"/>
          </p:cNvSpPr>
          <p:nvPr/>
        </p:nvSpPr>
        <p:spPr>
          <a:xfrm xmlns:a="http://schemas.openxmlformats.org/drawingml/2006/main">
            <a:off x="2381250" y="5581650"/>
            <a:ext cx="742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9DECF4"/>
                </a:solidFill>
                <a:latin typeface="Arial"/>
                <a:ea typeface="Arial"/>
                <a:cs typeface="Arial"/>
              </a:defRPr>
            </a:pPr>
            <a:r>
              <a:rPr sz="2025" b="1">
                <a:solidFill>
                  <a:srgbClr val="9DECF4"/>
                </a:solidFill>
                <a:latin typeface="Arial"/>
                <a:ea typeface="Arial"/>
                <a:cs typeface="Arial"/>
              </a:rPr>
              <a:t>AI helpt kiezen. Mensen bepalen de grenzen.</a:t>
            </a:r>
          </a:p>
        </p:txBody>
      </p:sp>
      <p:sp>
        <p:nvSpPr>
          <p:cNvPr id="13" name="">
            <a:extLst xmlns:a="http://schemas.openxmlformats.org/drawingml/2006/main">
              <a:ext uri="{FF2B5EF4-FFF2-40B4-BE49-F238E27FC236}">
                <a16:creationId xmlns:a16="http://schemas.microsoft.com/office/drawing/2014/main" id="{A9A00E4E-56C0-48C9-A4C4-64575EF2F50A}"/>
              </a:ext>
            </a:extLst>
          </p:cNvPr>
          <p:cNvSpPr>
            <a:spLocks xmlns:a="http://schemas.openxmlformats.org/drawingml/2006/main" noGrp="1"/>
          </p:cNvSpPr>
          <p:nvPr/>
        </p:nvSpPr>
        <p:spPr>
          <a:xfrm xmlns:a="http://schemas.openxmlformats.org/drawingml/2006/main">
            <a:off x="113347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D8DDEA"/>
                </a:solidFill>
                <a:latin typeface="Arial"/>
                <a:ea typeface="Arial"/>
                <a:cs typeface="Arial"/>
              </a:defRPr>
            </a:pPr>
            <a:r>
              <a:rPr sz="1125" b="0">
                <a:solidFill>
                  <a:srgbClr val="D8DDEA"/>
                </a:solidFill>
                <a:latin typeface="Arial"/>
                <a:ea typeface="Arial"/>
                <a:cs typeface="Arial"/>
              </a:rPr>
              <a:t>08</a:t>
            </a:r>
          </a:p>
        </p:txBody>
      </p:sp>
    </p:spTree>
    <p:extLst>
      <p:ext uri="{BB962C8B-B14F-4D97-AF65-F5344CB8AC3E}">
        <p14:creationId xmlns:p14="http://schemas.microsoft.com/office/powerpoint/2010/main" val="574308694"/>
      </p:ext>
    </p:extLst>
  </p:cSld>
</p:sld>
</file>

<file path=ppt/slides/slide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BD6FED-19E0-44EC-A5FF-D4A50DEB6A36}"/>
              </a:ext>
            </a:extLst>
          </p:cNvPr>
          <p:cNvSpPr>
            <a:spLocks xmlns:a="http://schemas.openxmlformats.org/drawingml/2006/main" noGrp="1"/>
          </p:cNvSpPr>
          <p:nvPr/>
        </p:nvSpPr>
        <p:spPr>
          <a:xfrm xmlns:a="http://schemas.openxmlformats.org/drawingml/2006/main">
            <a:off x="857250" y="6858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1">
                <a:solidFill>
                  <a:srgbClr val="172033"/>
                </a:solidFill>
                <a:latin typeface="Arial"/>
                <a:ea typeface="Arial"/>
                <a:cs typeface="Arial"/>
              </a:defRPr>
            </a:pPr>
            <a:r>
              <a:rPr sz="3150" b="1">
                <a:solidFill>
                  <a:srgbClr val="172033"/>
                </a:solidFill>
                <a:latin typeface="Arial"/>
                <a:ea typeface="Arial"/>
                <a:cs typeface="Arial"/>
              </a:rPr>
              <a:t>Mijn advies aan TikTok</a:t>
            </a:r>
          </a:p>
        </p:txBody>
      </p:sp>
      <p:sp>
        <p:nvSpPr>
          <p:cNvPr id="2" name="">
            <a:extLst xmlns:a="http://schemas.openxmlformats.org/drawingml/2006/main">
              <a:ext uri="{FF2B5EF4-FFF2-40B4-BE49-F238E27FC236}">
                <a16:creationId xmlns:a16="http://schemas.microsoft.com/office/drawing/2014/main" id="{FBDFFE7C-1771-4F8C-AEA4-7188D280528F}"/>
              </a:ext>
            </a:extLst>
          </p:cNvPr>
          <p:cNvSpPr>
            <a:spLocks xmlns:a="http://schemas.openxmlformats.org/drawingml/2006/main" noGrp="1"/>
          </p:cNvSpPr>
          <p:nvPr/>
        </p:nvSpPr>
        <p:spPr>
          <a:xfrm xmlns:a="http://schemas.openxmlformats.org/drawingml/2006/main">
            <a:off x="2095500" y="1809750"/>
            <a:ext cx="80010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8DDEA"/>
            </a:solidFill>
          </a:ln>
        </p:spPr>
      </p:sp>
      <p:sp>
        <p:nvSpPr>
          <p:cNvPr id="3" name="">
            <a:extLst xmlns:a="http://schemas.openxmlformats.org/drawingml/2006/main">
              <a:ext uri="{FF2B5EF4-FFF2-40B4-BE49-F238E27FC236}">
                <a16:creationId xmlns:a16="http://schemas.microsoft.com/office/drawing/2014/main" id="{EF72A9A1-DCF5-4ABE-8D05-98DB5971AFCA}"/>
              </a:ext>
            </a:extLst>
          </p:cNvPr>
          <p:cNvSpPr>
            <a:spLocks xmlns:a="http://schemas.openxmlformats.org/drawingml/2006/main" noGrp="1"/>
          </p:cNvSpPr>
          <p:nvPr/>
        </p:nvSpPr>
        <p:spPr>
          <a:xfrm xmlns:a="http://schemas.openxmlformats.org/drawingml/2006/main">
            <a:off x="2619375" y="2143125"/>
            <a:ext cx="695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250" b="1">
                <a:solidFill>
                  <a:srgbClr val="FF5D62"/>
                </a:solidFill>
                <a:latin typeface="Arial"/>
                <a:ea typeface="Arial"/>
                <a:cs typeface="Arial"/>
              </a:defRPr>
            </a:pPr>
            <a:r>
              <a:rPr sz="2250" b="1">
                <a:solidFill>
                  <a:srgbClr val="FF5D62"/>
                </a:solidFill>
                <a:latin typeface="Arial"/>
                <a:ea typeface="Arial"/>
                <a:cs typeface="Arial"/>
              </a:rPr>
              <a:t>Test Perspective Mix als vrijwillige instelling.</a:t>
            </a:r>
          </a:p>
        </p:txBody>
      </p:sp>
      <p:sp>
        <p:nvSpPr>
          <p:cNvPr id="4" name="">
            <a:extLst xmlns:a="http://schemas.openxmlformats.org/drawingml/2006/main">
              <a:ext uri="{FF2B5EF4-FFF2-40B4-BE49-F238E27FC236}">
                <a16:creationId xmlns:a16="http://schemas.microsoft.com/office/drawing/2014/main" id="{0B812E31-C90D-46DE-BCB6-CA07772E1FBB}"/>
              </a:ext>
            </a:extLst>
          </p:cNvPr>
          <p:cNvSpPr>
            <a:spLocks xmlns:a="http://schemas.openxmlformats.org/drawingml/2006/main" noGrp="1"/>
          </p:cNvSpPr>
          <p:nvPr/>
        </p:nvSpPr>
        <p:spPr>
          <a:xfrm xmlns:a="http://schemas.openxmlformats.org/drawingml/2006/main">
            <a:off x="2857500" y="285750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172033"/>
                </a:solidFill>
                <a:latin typeface="Arial"/>
                <a:ea typeface="Arial"/>
                <a:cs typeface="Arial"/>
              </a:defRPr>
            </a:pPr>
            <a:r>
              <a:rPr sz="1875" b="0">
                <a:solidFill>
                  <a:srgbClr val="172033"/>
                </a:solidFill>
                <a:latin typeface="Arial"/>
                <a:ea typeface="Arial"/>
                <a:cs typeface="Arial"/>
              </a:rPr>
              <a:t>Geef gebruikers meer keuze, meet afwisseling en houd veiligheid belangrijker dan maximale kijktijd.</a:t>
            </a:r>
          </a:p>
        </p:txBody>
      </p:sp>
      <p:sp>
        <p:nvSpPr>
          <p:cNvPr id="5" name="">
            <a:extLst xmlns:a="http://schemas.openxmlformats.org/drawingml/2006/main">
              <a:ext uri="{FF2B5EF4-FFF2-40B4-BE49-F238E27FC236}">
                <a16:creationId xmlns:a16="http://schemas.microsoft.com/office/drawing/2014/main" id="{9042425D-9A8B-4DD9-A48B-4093DEDD46B1}"/>
              </a:ext>
            </a:extLst>
          </p:cNvPr>
          <p:cNvSpPr>
            <a:spLocks xmlns:a="http://schemas.openxmlformats.org/drawingml/2006/main" noGrp="1"/>
          </p:cNvSpPr>
          <p:nvPr/>
        </p:nvSpPr>
        <p:spPr>
          <a:xfrm xmlns:a="http://schemas.openxmlformats.org/drawingml/2006/main">
            <a:off x="3857625" y="4686300"/>
            <a:ext cx="4476750" cy="666750"/>
          </a:xfrm>
          <a:prstGeom xmlns:a="http://schemas.openxmlformats.org/drawingml/2006/main" prst="roundRect">
            <a:avLst>
              <a:gd name="adj" fmla="val 17143"/>
            </a:avLst>
          </a:prstGeom>
          <a:solidFill xmlns:a="http://schemas.openxmlformats.org/drawingml/2006/main">
            <a:srgbClr val="10182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828DF4D-ECBF-4394-A8AA-E3F9968D4964}"/>
              </a:ext>
            </a:extLst>
          </p:cNvPr>
          <p:cNvSpPr>
            <a:spLocks xmlns:a="http://schemas.openxmlformats.org/drawingml/2006/main" noGrp="1"/>
          </p:cNvSpPr>
          <p:nvPr/>
        </p:nvSpPr>
        <p:spPr>
          <a:xfrm xmlns:a="http://schemas.openxmlformats.org/drawingml/2006/main">
            <a:off x="4048125" y="481012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Meer regie. Meer ontdekking. Minder herhaling.</a:t>
            </a:r>
          </a:p>
        </p:txBody>
      </p:sp>
      <p:sp>
        <p:nvSpPr>
          <p:cNvPr id="7" name="">
            <a:extLst xmlns:a="http://schemas.openxmlformats.org/drawingml/2006/main">
              <a:ext uri="{FF2B5EF4-FFF2-40B4-BE49-F238E27FC236}">
                <a16:creationId xmlns:a16="http://schemas.microsoft.com/office/drawing/2014/main" id="{11A209D4-02CE-4FEF-9F58-EDCA261B17F8}"/>
              </a:ext>
            </a:extLst>
          </p:cNvPr>
          <p:cNvSpPr>
            <a:spLocks xmlns:a="http://schemas.openxmlformats.org/drawingml/2006/main" noGrp="1"/>
          </p:cNvSpPr>
          <p:nvPr/>
        </p:nvSpPr>
        <p:spPr>
          <a:xfrm xmlns:a="http://schemas.openxmlformats.org/drawingml/2006/main">
            <a:off x="5143500" y="581025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566176"/>
                </a:solidFill>
                <a:latin typeface="Arial"/>
                <a:ea typeface="Arial"/>
                <a:cs typeface="Arial"/>
              </a:defRPr>
            </a:pPr>
            <a:r>
              <a:rPr sz="1650" b="0">
                <a:solidFill>
                  <a:srgbClr val="566176"/>
                </a:solidFill>
                <a:latin typeface="Arial"/>
                <a:ea typeface="Arial"/>
                <a:cs typeface="Arial"/>
              </a:rPr>
              <a:t>Vragen?</a:t>
            </a:r>
          </a:p>
        </p:txBody>
      </p:sp>
      <p:sp>
        <p:nvSpPr>
          <p:cNvPr id="8" name="">
            <a:extLst xmlns:a="http://schemas.openxmlformats.org/drawingml/2006/main">
              <a:ext uri="{FF2B5EF4-FFF2-40B4-BE49-F238E27FC236}">
                <a16:creationId xmlns:a16="http://schemas.microsoft.com/office/drawing/2014/main" id="{4EEA3591-C11B-4DC8-9D36-760EC75006A3}"/>
              </a:ext>
            </a:extLst>
          </p:cNvPr>
          <p:cNvSpPr>
            <a:spLocks xmlns:a="http://schemas.openxmlformats.org/drawingml/2006/main" noGrp="1"/>
          </p:cNvSpPr>
          <p:nvPr/>
        </p:nvSpPr>
        <p:spPr>
          <a:xfrm xmlns:a="http://schemas.openxmlformats.org/drawingml/2006/main">
            <a:off x="113347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66176"/>
                </a:solidFill>
                <a:latin typeface="Arial"/>
                <a:ea typeface="Arial"/>
                <a:cs typeface="Arial"/>
              </a:defRPr>
            </a:pPr>
            <a:r>
              <a:rPr sz="1125" b="0">
                <a:solidFill>
                  <a:srgbClr val="566176"/>
                </a:solidFill>
                <a:latin typeface="Arial"/>
                <a:ea typeface="Arial"/>
                <a:cs typeface="Arial"/>
              </a:rPr>
              <a:t>09</a:t>
            </a:r>
          </a:p>
        </p:txBody>
      </p:sp>
    </p:spTree>
    <p:extLst>
      <p:ext uri="{BB962C8B-B14F-4D97-AF65-F5344CB8AC3E}">
        <p14:creationId xmlns:p14="http://schemas.microsoft.com/office/powerpoint/2010/main" val="10793060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2026-10-01T12:49:17.0290000Z</dcterms:created>
  <dcterms:modified xsi:type="dcterms:W3CDTF">2026-10-01T12:49:17.0290000Z</dcterms:modified>
</coreProperties>
</file>